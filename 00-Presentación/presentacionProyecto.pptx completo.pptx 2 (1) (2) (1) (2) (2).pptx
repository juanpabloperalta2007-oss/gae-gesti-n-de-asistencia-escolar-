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7" r:id="rId3"/>
    <p:sldId id="258" r:id="rId4"/>
    <p:sldId id="259" r:id="rId5"/>
    <p:sldId id="260" r:id="rId6"/>
    <p:sldId id="261" r:id="rId7"/>
    <p:sldId id="262" r:id="rId8"/>
    <p:sldId id="264" r:id="rId9"/>
    <p:sldId id="265" r:id="rId10"/>
    <p:sldId id="268" r:id="rId11"/>
    <p:sldId id="266" r:id="rId12"/>
    <p:sldId id="267" r:id="rId13"/>
    <p:sldId id="263" r:id="rId14"/>
    <p:sldId id="269" r:id="rId15"/>
    <p:sldId id="271" r:id="rId16"/>
    <p:sldId id="272" r:id="rId17"/>
    <p:sldId id="273" r:id="rId18"/>
    <p:sldId id="274" r:id="rId19"/>
    <p:sldId id="275" r:id="rId20"/>
    <p:sldId id="283" r:id="rId21"/>
    <p:sldId id="291" r:id="rId22"/>
    <p:sldId id="290" r:id="rId23"/>
    <p:sldId id="277" r:id="rId24"/>
    <p:sldId id="280" r:id="rId25"/>
    <p:sldId id="281" r:id="rId26"/>
    <p:sldId id="27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20" autoAdjust="0"/>
  </p:normalViewPr>
  <p:slideViewPr>
    <p:cSldViewPr snapToGrid="0">
      <p:cViewPr varScale="1">
        <p:scale>
          <a:sx n="107" d="100"/>
          <a:sy n="107" d="100"/>
        </p:scale>
        <p:origin x="75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E6EE03-55E3-4D6D-A7AB-662C607A37FE}" type="datetimeFigureOut">
              <a:rPr lang="es-419" smtClean="0"/>
              <a:t>16/10/2025</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2E5281-E5E5-4017-952A-3DF3F473A05B}" type="slidenum">
              <a:rPr lang="es-419" smtClean="0"/>
              <a:t>‹Nº›</a:t>
            </a:fld>
            <a:endParaRPr lang="es-419"/>
          </a:p>
        </p:txBody>
      </p:sp>
    </p:spTree>
    <p:extLst>
      <p:ext uri="{BB962C8B-B14F-4D97-AF65-F5344CB8AC3E}">
        <p14:creationId xmlns:p14="http://schemas.microsoft.com/office/powerpoint/2010/main" val="3762365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C6AA13D-E1C4-4304-ADD4-5D83B7287497}" type="datetime1">
              <a:rPr lang="es-CO" smtClean="0"/>
              <a:t>16/10/2025</a:t>
            </a:fld>
            <a:endParaRPr lang="es-CO"/>
          </a:p>
        </p:txBody>
      </p:sp>
      <p:sp>
        <p:nvSpPr>
          <p:cNvPr id="5" name="Footer Placeholder 4"/>
          <p:cNvSpPr>
            <a:spLocks noGrp="1"/>
          </p:cNvSpPr>
          <p:nvPr>
            <p:ph type="ftr" sz="quarter" idx="11"/>
          </p:nvPr>
        </p:nvSpPr>
        <p:spPr/>
        <p:txBody>
          <a:bodyPr/>
          <a:lstStyle/>
          <a:p>
            <a:endParaRPr lang="es-CO"/>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938508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E98C68-7655-4DF5-8CA9-7D15E19C423D}" type="datetime1">
              <a:rPr lang="es-CO" smtClean="0"/>
              <a:t>16/10/2025</a:t>
            </a:fld>
            <a:endParaRPr lang="es-CO"/>
          </a:p>
        </p:txBody>
      </p:sp>
      <p:sp>
        <p:nvSpPr>
          <p:cNvPr id="5" name="Footer Placeholder 4"/>
          <p:cNvSpPr>
            <a:spLocks noGrp="1"/>
          </p:cNvSpPr>
          <p:nvPr>
            <p:ph type="ftr" sz="quarter" idx="11"/>
          </p:nvPr>
        </p:nvSpPr>
        <p:spPr/>
        <p:txBody>
          <a:bodyPr/>
          <a:lstStyle/>
          <a:p>
            <a:endParaRPr lang="es-CO"/>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199817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D0EA29D-2320-41BA-B616-4AF204EF3EB8}" type="datetime1">
              <a:rPr lang="es-CO" smtClean="0"/>
              <a:t>16/10/2025</a:t>
            </a:fld>
            <a:endParaRPr lang="es-CO"/>
          </a:p>
        </p:txBody>
      </p:sp>
      <p:sp>
        <p:nvSpPr>
          <p:cNvPr id="5" name="Footer Placeholder 4"/>
          <p:cNvSpPr>
            <a:spLocks noGrp="1"/>
          </p:cNvSpPr>
          <p:nvPr>
            <p:ph type="ftr" sz="quarter" idx="11"/>
          </p:nvPr>
        </p:nvSpPr>
        <p:spPr/>
        <p:txBody>
          <a:bodyPr/>
          <a:lstStyle/>
          <a:p>
            <a:endParaRPr lang="es-CO"/>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349801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0E33784-D691-4C74-A73F-F02D843B244E}" type="datetime1">
              <a:rPr lang="es-CO" smtClean="0"/>
              <a:t>16/10/2025</a:t>
            </a:fld>
            <a:endParaRPr lang="es-CO"/>
          </a:p>
        </p:txBody>
      </p:sp>
      <p:sp>
        <p:nvSpPr>
          <p:cNvPr id="6" name="Footer Placeholder 5"/>
          <p:cNvSpPr>
            <a:spLocks noGrp="1"/>
          </p:cNvSpPr>
          <p:nvPr>
            <p:ph type="ftr" sz="quarter" idx="11"/>
          </p:nvPr>
        </p:nvSpPr>
        <p:spPr/>
        <p:txBody>
          <a:bodyPr/>
          <a:lstStyle/>
          <a:p>
            <a:endParaRPr lang="es-CO"/>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625262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5E610BA-FE33-4182-A194-6ADEE8D0F24E}" type="datetime1">
              <a:rPr lang="es-CO" smtClean="0"/>
              <a:t>16/10/2025</a:t>
            </a:fld>
            <a:endParaRPr lang="es-CO"/>
          </a:p>
        </p:txBody>
      </p:sp>
      <p:sp>
        <p:nvSpPr>
          <p:cNvPr id="8" name="Footer Placeholder 7"/>
          <p:cNvSpPr>
            <a:spLocks noGrp="1"/>
          </p:cNvSpPr>
          <p:nvPr>
            <p:ph type="ftr" sz="quarter" idx="11"/>
          </p:nvPr>
        </p:nvSpPr>
        <p:spPr/>
        <p:txBody>
          <a:bodyPr/>
          <a:lstStyle/>
          <a:p>
            <a:endParaRPr lang="es-CO"/>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84485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289FC62-D5E8-47E5-B467-127DDBB9AE56}" type="datetime1">
              <a:rPr lang="es-CO" smtClean="0"/>
              <a:t>16/10/2025</a:t>
            </a:fld>
            <a:endParaRPr lang="es-CO"/>
          </a:p>
        </p:txBody>
      </p:sp>
      <p:sp>
        <p:nvSpPr>
          <p:cNvPr id="4" name="Footer Placeholder 3"/>
          <p:cNvSpPr>
            <a:spLocks noGrp="1"/>
          </p:cNvSpPr>
          <p:nvPr>
            <p:ph type="ftr" sz="quarter" idx="11"/>
          </p:nvPr>
        </p:nvSpPr>
        <p:spPr/>
        <p:txBody>
          <a:bodyPr/>
          <a:lstStyle/>
          <a:p>
            <a:endParaRPr lang="es-CO"/>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3774445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3208BE-2DC2-4D7F-B818-F3A566D0F663}" type="datetime1">
              <a:rPr lang="es-CO" smtClean="0"/>
              <a:t>16/10/2025</a:t>
            </a:fld>
            <a:endParaRPr lang="es-CO"/>
          </a:p>
        </p:txBody>
      </p:sp>
      <p:sp>
        <p:nvSpPr>
          <p:cNvPr id="3" name="Footer Placeholder 2"/>
          <p:cNvSpPr>
            <a:spLocks noGrp="1"/>
          </p:cNvSpPr>
          <p:nvPr>
            <p:ph type="ftr" sz="quarter" idx="11"/>
          </p:nvPr>
        </p:nvSpPr>
        <p:spPr/>
        <p:txBody>
          <a:bodyPr/>
          <a:lstStyle/>
          <a:p>
            <a:endParaRPr lang="es-CO"/>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3209066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841D9AE-2450-405E-B224-4ACE45140CD0}" type="datetime1">
              <a:rPr lang="es-CO" smtClean="0"/>
              <a:t>16/10/2025</a:t>
            </a:fld>
            <a:endParaRPr lang="es-CO"/>
          </a:p>
        </p:txBody>
      </p:sp>
      <p:sp>
        <p:nvSpPr>
          <p:cNvPr id="6" name="Footer Placeholder 5"/>
          <p:cNvSpPr>
            <a:spLocks noGrp="1"/>
          </p:cNvSpPr>
          <p:nvPr>
            <p:ph type="ftr" sz="quarter" idx="11"/>
          </p:nvPr>
        </p:nvSpPr>
        <p:spPr/>
        <p:txBody>
          <a:bodyPr/>
          <a:lstStyle/>
          <a:p>
            <a:endParaRPr lang="es-CO"/>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38923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A0E98B6-367A-45F8-98F6-153917E5CB13}" type="datetime1">
              <a:rPr lang="es-CO" smtClean="0"/>
              <a:t>16/10/2025</a:t>
            </a:fld>
            <a:endParaRPr lang="es-CO"/>
          </a:p>
        </p:txBody>
      </p:sp>
      <p:sp>
        <p:nvSpPr>
          <p:cNvPr id="6" name="Footer Placeholder 5"/>
          <p:cNvSpPr>
            <a:spLocks noGrp="1"/>
          </p:cNvSpPr>
          <p:nvPr>
            <p:ph type="ftr" sz="quarter" idx="11"/>
          </p:nvPr>
        </p:nvSpPr>
        <p:spPr/>
        <p:txBody>
          <a:bodyPr/>
          <a:lstStyle/>
          <a:p>
            <a:endParaRPr lang="es-CO"/>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3191359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ACBA8D9-D90C-4346-A660-8FDB9969033B}" type="datetime1">
              <a:rPr lang="es-CO" smtClean="0"/>
              <a:t>16/10/2025</a:t>
            </a:fld>
            <a:endParaRPr lang="es-CO"/>
          </a:p>
        </p:txBody>
      </p:sp>
      <p:sp>
        <p:nvSpPr>
          <p:cNvPr id="5" name="Footer Placeholder 4"/>
          <p:cNvSpPr>
            <a:spLocks noGrp="1"/>
          </p:cNvSpPr>
          <p:nvPr>
            <p:ph type="ftr" sz="quarter" idx="11"/>
          </p:nvPr>
        </p:nvSpPr>
        <p:spPr/>
        <p:txBody>
          <a:bodyPr/>
          <a:lstStyle/>
          <a:p>
            <a:endParaRPr lang="es-CO"/>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2924263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FFF25A2-80EE-48FC-B5CF-B2765C5940FD}" type="datetime1">
              <a:rPr lang="es-CO" smtClean="0"/>
              <a:t>16/10/2025</a:t>
            </a:fld>
            <a:endParaRPr lang="es-CO"/>
          </a:p>
        </p:txBody>
      </p:sp>
      <p:sp>
        <p:nvSpPr>
          <p:cNvPr id="5" name="Footer Placeholder 4"/>
          <p:cNvSpPr>
            <a:spLocks noGrp="1"/>
          </p:cNvSpPr>
          <p:nvPr>
            <p:ph type="ftr" sz="quarter" idx="11"/>
          </p:nvPr>
        </p:nvSpPr>
        <p:spPr/>
        <p:txBody>
          <a:bodyPr/>
          <a:lstStyle/>
          <a:p>
            <a:endParaRPr lang="es-CO"/>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63AC2A5-5C3E-4220-BB99-01E3C4CB1A8D}" type="slidenum">
              <a:rPr lang="es-CO" smtClean="0"/>
              <a:t>‹Nº›</a:t>
            </a:fld>
            <a:endParaRPr lang="es-CO"/>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55188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BB535C5C-BD1E-4A7A-8ED9-1B001BAB19A1}" type="datetime1">
              <a:rPr lang="es-CO" smtClean="0"/>
              <a:t>16/10/2025</a:t>
            </a:fld>
            <a:endParaRPr lang="es-CO"/>
          </a:p>
        </p:txBody>
      </p:sp>
      <p:sp>
        <p:nvSpPr>
          <p:cNvPr id="6" name="Footer Placeholder 5"/>
          <p:cNvSpPr>
            <a:spLocks noGrp="1"/>
          </p:cNvSpPr>
          <p:nvPr>
            <p:ph type="ftr" sz="quarter" idx="11"/>
          </p:nvPr>
        </p:nvSpPr>
        <p:spPr/>
        <p:txBody>
          <a:bodyPr/>
          <a:lstStyle/>
          <a:p>
            <a:endParaRPr lang="es-CO"/>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2484451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013308AC-DF73-46D5-995E-9ED45E34ECC5}" type="datetime1">
              <a:rPr lang="es-CO" smtClean="0"/>
              <a:t>16/10/2025</a:t>
            </a:fld>
            <a:endParaRPr lang="es-CO"/>
          </a:p>
        </p:txBody>
      </p:sp>
      <p:sp>
        <p:nvSpPr>
          <p:cNvPr id="6" name="Footer Placeholder 5"/>
          <p:cNvSpPr>
            <a:spLocks noGrp="1"/>
          </p:cNvSpPr>
          <p:nvPr>
            <p:ph type="ftr" sz="quarter" idx="11"/>
          </p:nvPr>
        </p:nvSpPr>
        <p:spPr/>
        <p:txBody>
          <a:bodyPr/>
          <a:lstStyle/>
          <a:p>
            <a:endParaRPr lang="es-CO"/>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3AC2A5-5C3E-4220-BB99-01E3C4CB1A8D}" type="slidenum">
              <a:rPr lang="es-CO" smtClean="0"/>
              <a:t>‹Nº›</a:t>
            </a:fld>
            <a:endParaRPr lang="es-CO"/>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14306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BED86AC4-C45E-46E6-8080-D604C69504E3}" type="datetime1">
              <a:rPr lang="es-CO" smtClean="0"/>
              <a:t>16/10/2025</a:t>
            </a:fld>
            <a:endParaRPr lang="es-CO"/>
          </a:p>
        </p:txBody>
      </p:sp>
      <p:sp>
        <p:nvSpPr>
          <p:cNvPr id="6" name="Footer Placeholder 5"/>
          <p:cNvSpPr>
            <a:spLocks noGrp="1"/>
          </p:cNvSpPr>
          <p:nvPr>
            <p:ph type="ftr" sz="quarter" idx="11"/>
          </p:nvPr>
        </p:nvSpPr>
        <p:spPr/>
        <p:txBody>
          <a:bodyPr/>
          <a:lstStyle/>
          <a:p>
            <a:endParaRPr lang="es-CO"/>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27331068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01261D4-8092-4BEA-AAB9-5E2B45AED2AF}" type="datetime1">
              <a:rPr lang="es-CO" smtClean="0"/>
              <a:t>16/10/2025</a:t>
            </a:fld>
            <a:endParaRPr lang="es-CO"/>
          </a:p>
        </p:txBody>
      </p:sp>
      <p:sp>
        <p:nvSpPr>
          <p:cNvPr id="5" name="Footer Placeholder 4"/>
          <p:cNvSpPr>
            <a:spLocks noGrp="1"/>
          </p:cNvSpPr>
          <p:nvPr>
            <p:ph type="ftr" sz="quarter" idx="11"/>
          </p:nvPr>
        </p:nvSpPr>
        <p:spPr/>
        <p:txBody>
          <a:bodyPr/>
          <a:lstStyle/>
          <a:p>
            <a:endParaRPr lang="es-CO"/>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9271787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F1CB477-1775-46BB-ADA4-881EC4559EE0}" type="datetime1">
              <a:rPr lang="es-CO" smtClean="0"/>
              <a:t>16/10/2025</a:t>
            </a:fld>
            <a:endParaRPr lang="es-CO"/>
          </a:p>
        </p:txBody>
      </p:sp>
      <p:sp>
        <p:nvSpPr>
          <p:cNvPr id="5" name="Footer Placeholder 4"/>
          <p:cNvSpPr>
            <a:spLocks noGrp="1"/>
          </p:cNvSpPr>
          <p:nvPr>
            <p:ph type="ftr" sz="quarter" idx="11"/>
          </p:nvPr>
        </p:nvSpPr>
        <p:spPr/>
        <p:txBody>
          <a:bodyPr/>
          <a:lstStyle/>
          <a:p>
            <a:endParaRPr lang="es-CO"/>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815361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99E4256-C270-4302-85C6-80264B2476D5}" type="datetime1">
              <a:rPr lang="es-CO" smtClean="0"/>
              <a:t>16/10/2025</a:t>
            </a:fld>
            <a:endParaRPr lang="es-CO"/>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O"/>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63AC2A5-5C3E-4220-BB99-01E3C4CB1A8D}" type="slidenum">
              <a:rPr lang="es-CO" smtClean="0"/>
              <a:t>‹Nº›</a:t>
            </a:fld>
            <a:endParaRPr lang="es-CO"/>
          </a:p>
        </p:txBody>
      </p:sp>
    </p:spTree>
    <p:extLst>
      <p:ext uri="{BB962C8B-B14F-4D97-AF65-F5344CB8AC3E}">
        <p14:creationId xmlns:p14="http://schemas.microsoft.com/office/powerpoint/2010/main" val="16582299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15.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29.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5107073" y="3286703"/>
            <a:ext cx="6628264" cy="954107"/>
          </a:xfrm>
          <a:prstGeom prst="rect">
            <a:avLst/>
          </a:prstGeom>
        </p:spPr>
        <p:txBody>
          <a:bodyPr wrap="square">
            <a:spAutoFit/>
          </a:bodyPr>
          <a:lstStyle/>
          <a:p>
            <a:r>
              <a:rPr lang="es-MX" sz="2800" dirty="0"/>
              <a:t>Gestión de asistencia escolar (GAE) </a:t>
            </a:r>
          </a:p>
          <a:p>
            <a:endParaRPr lang="es-CO" sz="2800" dirty="0"/>
          </a:p>
        </p:txBody>
      </p:sp>
      <p:cxnSp>
        <p:nvCxnSpPr>
          <p:cNvPr id="17" name="Conector recto 16"/>
          <p:cNvCxnSpPr/>
          <p:nvPr/>
        </p:nvCxnSpPr>
        <p:spPr>
          <a:xfrm>
            <a:off x="5268036" y="4224475"/>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44" name="Picture 20" descr="Lista de verificación de asistencia | Vector Premium">
            <a:extLst>
              <a:ext uri="{FF2B5EF4-FFF2-40B4-BE49-F238E27FC236}">
                <a16:creationId xmlns:a16="http://schemas.microsoft.com/office/drawing/2014/main" id="{3EB1963B-C36D-9FDD-9190-FFB88E111E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67387" y="2389118"/>
            <a:ext cx="2362637" cy="236263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9150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a:solidFill>
            <a:schemeClr val="accent1"/>
          </a:solidFill>
        </p:grpSpPr>
        <p:sp>
          <p:nvSpPr>
            <p:cNvPr id="8" name="CuadroTexto 7"/>
            <p:cNvSpPr txBox="1"/>
            <p:nvPr/>
          </p:nvSpPr>
          <p:spPr>
            <a:xfrm>
              <a:off x="300252" y="211200"/>
              <a:ext cx="4940648" cy="523220"/>
            </a:xfrm>
            <a:prstGeom prst="rect">
              <a:avLst/>
            </a:prstGeom>
            <a:noFill/>
          </p:spPr>
          <p:txBody>
            <a:bodyPr wrap="non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a:grpFill/>
          </p:spPr>
        </p:pic>
      </p:grpSp>
      <p:sp>
        <p:nvSpPr>
          <p:cNvPr id="14" name="Rectángulo 13"/>
          <p:cNvSpPr/>
          <p:nvPr/>
        </p:nvSpPr>
        <p:spPr>
          <a:xfrm>
            <a:off x="5213605" y="3185663"/>
            <a:ext cx="6628264" cy="523220"/>
          </a:xfrm>
          <a:prstGeom prst="rect">
            <a:avLst/>
          </a:prstGeom>
        </p:spPr>
        <p:txBody>
          <a:bodyPr wrap="square">
            <a:spAutoFit/>
          </a:bodyPr>
          <a:lstStyle/>
          <a:p>
            <a:r>
              <a:rPr lang="es-MX" sz="2800" dirty="0"/>
              <a:t>Integrantes:</a:t>
            </a:r>
            <a:endParaRPr lang="es-CO" sz="2800" dirty="0"/>
          </a:p>
        </p:txBody>
      </p:sp>
      <p:cxnSp>
        <p:nvCxnSpPr>
          <p:cNvPr id="17" name="Conector recto 16"/>
          <p:cNvCxnSpPr/>
          <p:nvPr/>
        </p:nvCxnSpPr>
        <p:spPr>
          <a:xfrm>
            <a:off x="5240900" y="5848558"/>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Rectángulo 11"/>
          <p:cNvSpPr/>
          <p:nvPr/>
        </p:nvSpPr>
        <p:spPr>
          <a:xfrm>
            <a:off x="5213605" y="3708883"/>
            <a:ext cx="6628264" cy="1384995"/>
          </a:xfrm>
          <a:prstGeom prst="rect">
            <a:avLst/>
          </a:prstGeom>
        </p:spPr>
        <p:txBody>
          <a:bodyPr wrap="square">
            <a:spAutoFit/>
          </a:bodyPr>
          <a:lstStyle/>
          <a:p>
            <a:pPr marL="457200" indent="-457200">
              <a:buFont typeface="Arial" panose="020B0604020202020204" pitchFamily="34" charset="0"/>
              <a:buChar char="•"/>
            </a:pPr>
            <a:r>
              <a:rPr lang="es-MX" sz="2800" dirty="0"/>
              <a:t>Johann Santiago Feria Sanabria</a:t>
            </a:r>
          </a:p>
          <a:p>
            <a:pPr marL="457200" indent="-457200">
              <a:buFont typeface="Arial" panose="020B0604020202020204" pitchFamily="34" charset="0"/>
              <a:buChar char="•"/>
            </a:pPr>
            <a:r>
              <a:rPr lang="es-MX" sz="2800" dirty="0"/>
              <a:t>Juan Pablo Peralta Martínez </a:t>
            </a:r>
          </a:p>
          <a:p>
            <a:pPr marL="457200" indent="-457200">
              <a:buFont typeface="Arial" panose="020B0604020202020204" pitchFamily="34" charset="0"/>
              <a:buChar char="•"/>
            </a:pPr>
            <a:r>
              <a:rPr lang="es-MX" sz="2800" dirty="0"/>
              <a:t>Daniel Felipe Castellanos Diaz</a:t>
            </a:r>
            <a:endParaRPr lang="es-CO" sz="2800" dirty="0"/>
          </a:p>
        </p:txBody>
      </p:sp>
      <p:pic>
        <p:nvPicPr>
          <p:cNvPr id="6" name="Imagen 5">
            <a:extLst>
              <a:ext uri="{FF2B5EF4-FFF2-40B4-BE49-F238E27FC236}">
                <a16:creationId xmlns:a16="http://schemas.microsoft.com/office/drawing/2014/main" id="{53D0D185-E3A6-F129-11A4-E712438E0187}"/>
              </a:ext>
            </a:extLst>
          </p:cNvPr>
          <p:cNvPicPr>
            <a:picLocks noChangeAspect="1"/>
          </p:cNvPicPr>
          <p:nvPr/>
        </p:nvPicPr>
        <p:blipFill>
          <a:blip r:embed="rId3"/>
          <a:stretch>
            <a:fillRect/>
          </a:stretch>
        </p:blipFill>
        <p:spPr>
          <a:xfrm>
            <a:off x="1768325" y="2773916"/>
            <a:ext cx="3254928" cy="3254928"/>
          </a:xfrm>
          <a:prstGeom prst="rect">
            <a:avLst/>
          </a:prstGeom>
        </p:spPr>
      </p:pic>
    </p:spTree>
    <p:extLst>
      <p:ext uri="{BB962C8B-B14F-4D97-AF65-F5344CB8AC3E}">
        <p14:creationId xmlns:p14="http://schemas.microsoft.com/office/powerpoint/2010/main" val="3694620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731432"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t>Planteamiento del Problema:</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69F701EA-AE3F-E703-EE91-A0270C17AA18}"/>
              </a:ext>
            </a:extLst>
          </p:cNvPr>
          <p:cNvSpPr txBox="1"/>
          <p:nvPr/>
        </p:nvSpPr>
        <p:spPr>
          <a:xfrm>
            <a:off x="1853967" y="2550260"/>
            <a:ext cx="8833608" cy="2031325"/>
          </a:xfrm>
          <a:prstGeom prst="rect">
            <a:avLst/>
          </a:prstGeom>
          <a:noFill/>
        </p:spPr>
        <p:txBody>
          <a:bodyPr wrap="square">
            <a:spAutoFit/>
          </a:bodyPr>
          <a:lstStyle/>
          <a:p>
            <a:r>
              <a:rPr lang="es-419" dirty="0">
                <a:latin typeface="Arial" panose="020B0604020202020204" pitchFamily="34" charset="0"/>
                <a:cs typeface="Arial" panose="020B0604020202020204" pitchFamily="34" charset="0"/>
              </a:rPr>
              <a:t>el control de asistencia dentro de la institución se realiza de forma manual, generando errores, demoras y poca comunicación con los padres. Esta falta de seguimiento oportuno hace que las faltas injustificadas pasen desapercibidas, provocando bajo rendimiento y, en algunos casos, la pérdida de materias.</a:t>
            </a:r>
            <a:br>
              <a:rPr lang="es-419" dirty="0">
                <a:latin typeface="Arial" panose="020B0604020202020204" pitchFamily="34" charset="0"/>
                <a:cs typeface="Arial" panose="020B0604020202020204" pitchFamily="34" charset="0"/>
              </a:rPr>
            </a:br>
            <a:r>
              <a:rPr lang="es-419" dirty="0">
                <a:latin typeface="Arial" panose="020B0604020202020204" pitchFamily="34" charset="0"/>
                <a:cs typeface="Arial" panose="020B0604020202020204" pitchFamily="34" charset="0"/>
              </a:rPr>
              <a:t>Se necesita un sistema que automatice el control y la notificación de asistencia, y que además gestione las consecuencias académicas derivadas de las inasistencias, permitiendo actuar a tiempo para evitar la deserción y mejorar el rendimiento escolar.</a:t>
            </a:r>
            <a:endParaRPr lang="es-MX" dirty="0">
              <a:latin typeface="Arial" panose="020B0604020202020204" pitchFamily="34" charset="0"/>
              <a:cs typeface="Arial" panose="020B0604020202020204" pitchFamily="34" charset="0"/>
            </a:endParaRPr>
          </a:p>
        </p:txBody>
      </p:sp>
      <p:pic>
        <p:nvPicPr>
          <p:cNvPr id="4098" name="Picture 2" descr="Problema - Iconos gratis de usuario">
            <a:extLst>
              <a:ext uri="{FF2B5EF4-FFF2-40B4-BE49-F238E27FC236}">
                <a16:creationId xmlns:a16="http://schemas.microsoft.com/office/drawing/2014/main" id="{273889C6-0E3A-2C30-CDCE-1EEA0E8260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19581" y="5185096"/>
            <a:ext cx="1492540" cy="1492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8604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t>Justificación:</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1722757" y="2664140"/>
            <a:ext cx="8430936" cy="3139321"/>
          </a:xfrm>
          <a:prstGeom prst="rect">
            <a:avLst/>
          </a:prstGeom>
        </p:spPr>
        <p:txBody>
          <a:bodyPr wrap="square">
            <a:spAutoFit/>
          </a:bodyPr>
          <a:lstStyle/>
          <a:p>
            <a:r>
              <a:rPr lang="es-419" dirty="0">
                <a:latin typeface="Arial" panose="020B0604020202020204" pitchFamily="34" charset="0"/>
                <a:cs typeface="Arial" panose="020B0604020202020204" pitchFamily="34" charset="0"/>
              </a:rPr>
              <a:t>El proyecto propone el desarrollo de un sistema de información para el control, notificación y seguimiento académico de la asistencia. Su propósito es reemplazar los registros manuales que generan errores y demoras, optimizando el tiempo de los docentes y mejorando la comunicación con los padres.</a:t>
            </a:r>
            <a:br>
              <a:rPr lang="es-419" dirty="0">
                <a:latin typeface="Arial" panose="020B0604020202020204" pitchFamily="34" charset="0"/>
                <a:cs typeface="Arial" panose="020B0604020202020204" pitchFamily="34" charset="0"/>
              </a:rPr>
            </a:br>
            <a:r>
              <a:rPr lang="es-419" dirty="0">
                <a:latin typeface="Arial" panose="020B0604020202020204" pitchFamily="34" charset="0"/>
                <a:cs typeface="Arial" panose="020B0604020202020204" pitchFamily="34" charset="0"/>
              </a:rPr>
              <a:t>Además, el sistema integrará un módulo que gestiona las consecuencias de las faltas injustificadas, permitiendo generar alertas preventivas y reportes sobre el riesgo de pérdida de materias por inasistencia.</a:t>
            </a:r>
            <a:br>
              <a:rPr lang="es-419" dirty="0">
                <a:latin typeface="Arial" panose="020B0604020202020204" pitchFamily="34" charset="0"/>
                <a:cs typeface="Arial" panose="020B0604020202020204" pitchFamily="34" charset="0"/>
              </a:rPr>
            </a:br>
            <a:r>
              <a:rPr lang="es-419" dirty="0">
                <a:latin typeface="Arial" panose="020B0604020202020204" pitchFamily="34" charset="0"/>
                <a:cs typeface="Arial" panose="020B0604020202020204" pitchFamily="34" charset="0"/>
              </a:rPr>
              <a:t>De esta manera, la plataforma no solo mejora la eficiencia administrativa, sino que también contribuye al rendimiento académico y la permanencia estudiantil, fortaleciendo el vínculo entre la institución y las familias mediante el uso de tecnologías web, servicios en la nube y notificaciones automáticas.</a:t>
            </a:r>
            <a:endParaRPr lang="es-CO" dirty="0">
              <a:latin typeface="Arial" panose="020B0604020202020204" pitchFamily="34" charset="0"/>
              <a:cs typeface="Arial" panose="020B0604020202020204" pitchFamily="34" charset="0"/>
            </a:endParaRPr>
          </a:p>
        </p:txBody>
      </p:sp>
      <p:pic>
        <p:nvPicPr>
          <p:cNvPr id="2050" name="Picture 2" descr="Diseño PNG Y SVG De Dibujos Animados De Atención Para Camisetas">
            <a:extLst>
              <a:ext uri="{FF2B5EF4-FFF2-40B4-BE49-F238E27FC236}">
                <a16:creationId xmlns:a16="http://schemas.microsoft.com/office/drawing/2014/main" id="{53345247-96C2-AC84-EC94-210E5FEAE9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4572" y="4718961"/>
            <a:ext cx="2541864" cy="2541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9429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68109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t>Pregunta del proyecto:</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460375" y="2521528"/>
            <a:ext cx="10059420" cy="923330"/>
          </a:xfrm>
          <a:prstGeom prst="rect">
            <a:avLst/>
          </a:prstGeom>
        </p:spPr>
        <p:txBody>
          <a:bodyPr wrap="square">
            <a:spAutoFit/>
          </a:bodyPr>
          <a:lstStyle/>
          <a:p>
            <a:r>
              <a:rPr lang="es-MX" dirty="0">
                <a:latin typeface="Arial" panose="020B0604020202020204" pitchFamily="34" charset="0"/>
                <a:cs typeface="Arial" panose="020B0604020202020204" pitchFamily="34" charset="0"/>
              </a:rPr>
              <a:t>¿El sistema de gestión de asistencia escolar puede ser aplicado en la institución educativa Liceo Antonio de Toledo para facilitar, automatizar y controlar el proceso de cumplimiento de los estudiantes?</a:t>
            </a:r>
            <a:endParaRPr lang="es-CO" dirty="0">
              <a:latin typeface="Arial" panose="020B0604020202020204" pitchFamily="34" charset="0"/>
              <a:cs typeface="Arial" panose="020B0604020202020204" pitchFamily="34" charset="0"/>
            </a:endParaRPr>
          </a:p>
        </p:txBody>
      </p:sp>
      <p:pic>
        <p:nvPicPr>
          <p:cNvPr id="3074" name="Picture 2" descr="La sala de clases">
            <a:extLst>
              <a:ext uri="{FF2B5EF4-FFF2-40B4-BE49-F238E27FC236}">
                <a16:creationId xmlns:a16="http://schemas.microsoft.com/office/drawing/2014/main" id="{3D00405E-A124-4BCD-CEE6-57807056B4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8291" y="3614641"/>
            <a:ext cx="3883753" cy="25891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31244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t>Objetivo General:</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890699" y="2505670"/>
            <a:ext cx="9589636" cy="1200329"/>
          </a:xfrm>
          <a:prstGeom prst="rect">
            <a:avLst/>
          </a:prstGeom>
        </p:spPr>
        <p:txBody>
          <a:bodyPr wrap="square">
            <a:spAutoFit/>
          </a:bodyPr>
          <a:lstStyle/>
          <a:p>
            <a:r>
              <a:rPr lang="es-419" dirty="0">
                <a:latin typeface="Arial" panose="020B0604020202020204" pitchFamily="34" charset="0"/>
                <a:cs typeface="Arial" panose="020B0604020202020204" pitchFamily="34" charset="0"/>
              </a:rPr>
              <a:t>Desarrollar una plataforma web que automatice el control de asistencia y gestione las consecuencias académicas por faltas injustificadas, con el fin de prevenir la pérdida de materias, fortalecer la comunicación institucional y mejorar el rendimiento académico de los estudiantes.</a:t>
            </a:r>
            <a:endParaRPr lang="es-CO" dirty="0">
              <a:latin typeface="Arial" panose="020B0604020202020204" pitchFamily="34" charset="0"/>
              <a:cs typeface="Arial" panose="020B0604020202020204" pitchFamily="34" charset="0"/>
            </a:endParaRPr>
          </a:p>
        </p:txBody>
      </p:sp>
      <p:pic>
        <p:nvPicPr>
          <p:cNvPr id="4098" name="Picture 2" descr="Aprendizaje Permanente Icono De Color Rgb Ilustración del Vector -  Ilustración de plano, profesional: 213631131">
            <a:extLst>
              <a:ext uri="{FF2B5EF4-FFF2-40B4-BE49-F238E27FC236}">
                <a16:creationId xmlns:a16="http://schemas.microsoft.com/office/drawing/2014/main" id="{0C67B83F-7427-E81E-D926-FA806ED7318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1560"/>
          <a:stretch/>
        </p:blipFill>
        <p:spPr bwMode="auto">
          <a:xfrm>
            <a:off x="4186735" y="3771010"/>
            <a:ext cx="2997564" cy="2800138"/>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2471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1634833" y="2118479"/>
            <a:ext cx="10768523" cy="1015663"/>
          </a:xfrm>
          <a:prstGeom prst="rect">
            <a:avLst/>
          </a:prstGeom>
        </p:spPr>
        <p:txBody>
          <a:bodyPr wrap="square">
            <a:spAutoFit/>
          </a:bodyPr>
          <a:lstStyle/>
          <a:p>
            <a:r>
              <a:rPr lang="es-MX" sz="6000" dirty="0"/>
              <a:t>Objetivos específicos</a:t>
            </a:r>
            <a:endParaRPr lang="es-CO" sz="6000" dirty="0"/>
          </a:p>
        </p:txBody>
      </p:sp>
      <p:cxnSp>
        <p:nvCxnSpPr>
          <p:cNvPr id="17" name="Conector recto 16"/>
          <p:cNvCxnSpPr/>
          <p:nvPr/>
        </p:nvCxnSpPr>
        <p:spPr>
          <a:xfrm>
            <a:off x="300252" y="838254"/>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6148" name="Picture 4" descr="Definir objetivos | Los 4 mejores métodos para alcanzar tus metas!">
            <a:extLst>
              <a:ext uri="{FF2B5EF4-FFF2-40B4-BE49-F238E27FC236}">
                <a16:creationId xmlns:a16="http://schemas.microsoft.com/office/drawing/2014/main" id="{D7E615F5-B2B9-00DA-24F7-8652DD84EF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74576" y="3917713"/>
            <a:ext cx="3642847" cy="2175736"/>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234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34D1D-33FF-818F-D288-5E2E6D75E85C}"/>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56B4E6A2-7E0A-F8D3-D0A1-0D5EFDB18677}"/>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08FA3D38-EE29-88F2-AA22-C86649BE14A5}"/>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8B300953-65D2-B48C-19C1-E6DA43227AF3}"/>
                </a:ext>
              </a:extLst>
            </p:cNvPr>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1B728368-F4E1-EDEA-ED71-572F10F988FF}"/>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CEC9D89B-6D0D-D487-4D13-42201B0D0A5C}"/>
              </a:ext>
            </a:extLst>
          </p:cNvPr>
          <p:cNvSpPr/>
          <p:nvPr/>
        </p:nvSpPr>
        <p:spPr>
          <a:xfrm>
            <a:off x="460375" y="1732773"/>
            <a:ext cx="6628264" cy="523220"/>
          </a:xfrm>
          <a:prstGeom prst="rect">
            <a:avLst/>
          </a:prstGeom>
        </p:spPr>
        <p:txBody>
          <a:bodyPr wrap="square">
            <a:spAutoFit/>
          </a:bodyPr>
          <a:lstStyle/>
          <a:p>
            <a:r>
              <a:rPr lang="es-MX" sz="2800" dirty="0"/>
              <a:t>Objetivo Específicos:</a:t>
            </a:r>
            <a:endParaRPr lang="es-CO" sz="2800" dirty="0"/>
          </a:p>
        </p:txBody>
      </p:sp>
      <p:cxnSp>
        <p:nvCxnSpPr>
          <p:cNvPr id="17" name="Conector recto 16">
            <a:extLst>
              <a:ext uri="{FF2B5EF4-FFF2-40B4-BE49-F238E27FC236}">
                <a16:creationId xmlns:a16="http://schemas.microsoft.com/office/drawing/2014/main" id="{C1ED3D58-D78C-DCA7-5469-E3ACAEDE4D45}"/>
              </a:ext>
            </a:extLst>
          </p:cNvPr>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B8ED6FF-0B87-AAAE-BEE0-0E5E78AD8709}"/>
              </a:ext>
            </a:extLst>
          </p:cNvPr>
          <p:cNvSpPr>
            <a:spLocks noChangeArrowheads="1"/>
          </p:cNvSpPr>
          <p:nvPr/>
        </p:nvSpPr>
        <p:spPr bwMode="auto">
          <a:xfrm>
            <a:off x="1426128" y="2802175"/>
            <a:ext cx="95970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i="0" u="none" strike="noStrike" cap="none" normalizeH="0" baseline="0" dirty="0">
                <a:ln>
                  <a:noFill/>
                </a:ln>
                <a:solidFill>
                  <a:schemeClr val="tx1"/>
                </a:solidFill>
                <a:effectLst/>
                <a:latin typeface="Arial" panose="020B0604020202020204" pitchFamily="34" charset="0"/>
              </a:rPr>
              <a:t>1. </a:t>
            </a:r>
            <a:r>
              <a:rPr kumimoji="0" lang="es-419" altLang="es-CO" i="0" u="none" strike="noStrike" cap="none" normalizeH="0" baseline="0" dirty="0">
                <a:ln>
                  <a:noFill/>
                </a:ln>
                <a:solidFill>
                  <a:schemeClr val="tx1"/>
                </a:solidFill>
                <a:effectLst/>
                <a:latin typeface="Arial" panose="020B0604020202020204" pitchFamily="34" charset="0"/>
              </a:rPr>
              <a:t>Analizar los procesos actuales de control de asistencia en </a:t>
            </a:r>
            <a:r>
              <a:rPr lang="es-419" altLang="es-CO" dirty="0">
                <a:latin typeface="Arial" panose="020B0604020202020204" pitchFamily="34" charset="0"/>
              </a:rPr>
              <a:t>el Liceo Antonio de Toledo</a:t>
            </a:r>
            <a:r>
              <a:rPr kumimoji="0" lang="es-419" altLang="es-CO" i="0" u="none" strike="noStrike" cap="none" normalizeH="0" baseline="0" dirty="0">
                <a:ln>
                  <a:noFill/>
                </a:ln>
                <a:solidFill>
                  <a:schemeClr val="tx1"/>
                </a:solidFill>
                <a:effectLst/>
                <a:latin typeface="Arial" panose="020B0604020202020204" pitchFamily="34" charset="0"/>
              </a:rPr>
              <a:t> para identificar los requerimientos funcionales que orienten el desarrollo de la plataforma web.</a:t>
            </a:r>
            <a:endParaRPr kumimoji="0" lang="es-CO" altLang="es-CO" b="0" i="0" u="none" strike="noStrike" cap="none" normalizeH="0" baseline="0" dirty="0">
              <a:ln>
                <a:noFill/>
              </a:ln>
              <a:solidFill>
                <a:schemeClr val="tx1"/>
              </a:solidFill>
              <a:effectLst/>
              <a:latin typeface="Arial" panose="020B0604020202020204" pitchFamily="34" charset="0"/>
            </a:endParaRPr>
          </a:p>
        </p:txBody>
      </p:sp>
      <p:pic>
        <p:nvPicPr>
          <p:cNvPr id="7170" name="Picture 2" descr="Qué es el proceso de mejora continua - Impulsa blog">
            <a:extLst>
              <a:ext uri="{FF2B5EF4-FFF2-40B4-BE49-F238E27FC236}">
                <a16:creationId xmlns:a16="http://schemas.microsoft.com/office/drawing/2014/main" id="{A9C36366-CE53-1EC5-A41D-46020D8E63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2537" y="4212934"/>
            <a:ext cx="2856102" cy="191227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13453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03611-EF99-ED4B-BA98-D12BC8DF8EA3}"/>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17512BE0-5F53-763E-58E2-713D0464A28D}"/>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A942CB56-E637-B72D-58DB-AE1A21734F82}"/>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18CBCB88-0C01-5363-7008-1C3696FCB76C}"/>
                </a:ext>
              </a:extLst>
            </p:cNvPr>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0B97B037-B840-2879-FCED-CC30E8E146EA}"/>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48E8CA0A-B125-6004-16A1-18C03145310E}"/>
              </a:ext>
            </a:extLst>
          </p:cNvPr>
          <p:cNvSpPr/>
          <p:nvPr/>
        </p:nvSpPr>
        <p:spPr>
          <a:xfrm>
            <a:off x="460375" y="1732773"/>
            <a:ext cx="6628264" cy="523220"/>
          </a:xfrm>
          <a:prstGeom prst="rect">
            <a:avLst/>
          </a:prstGeom>
        </p:spPr>
        <p:txBody>
          <a:bodyPr wrap="square">
            <a:spAutoFit/>
          </a:bodyPr>
          <a:lstStyle/>
          <a:p>
            <a:r>
              <a:rPr lang="es-MX" sz="2800" dirty="0"/>
              <a:t>Objetivo Específicos:</a:t>
            </a:r>
            <a:endParaRPr lang="es-CO" sz="2800" dirty="0"/>
          </a:p>
        </p:txBody>
      </p:sp>
      <p:cxnSp>
        <p:nvCxnSpPr>
          <p:cNvPr id="17" name="Conector recto 16">
            <a:extLst>
              <a:ext uri="{FF2B5EF4-FFF2-40B4-BE49-F238E27FC236}">
                <a16:creationId xmlns:a16="http://schemas.microsoft.com/office/drawing/2014/main" id="{02EAB61C-DB20-6C40-6219-7BE5C66865E3}"/>
              </a:ext>
            </a:extLst>
          </p:cNvPr>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B6DA377-42D0-CBAD-EE21-8F0BC44DF7D8}"/>
              </a:ext>
            </a:extLst>
          </p:cNvPr>
          <p:cNvSpPr>
            <a:spLocks noChangeArrowheads="1"/>
          </p:cNvSpPr>
          <p:nvPr/>
        </p:nvSpPr>
        <p:spPr bwMode="auto">
          <a:xfrm>
            <a:off x="1639380" y="2548510"/>
            <a:ext cx="943365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800" i="0" u="none" strike="noStrike" cap="none" normalizeH="0" baseline="0" dirty="0">
                <a:ln>
                  <a:noFill/>
                </a:ln>
                <a:solidFill>
                  <a:schemeClr val="tx1"/>
                </a:solidFill>
                <a:effectLst/>
                <a:latin typeface="Arial" panose="020B0604020202020204" pitchFamily="34" charset="0"/>
              </a:rPr>
              <a:t>2. </a:t>
            </a:r>
            <a:r>
              <a:rPr kumimoji="0" lang="es-419" altLang="es-CO" sz="1800" i="0" u="none" strike="noStrike" cap="none" normalizeH="0" baseline="0" dirty="0">
                <a:ln>
                  <a:noFill/>
                </a:ln>
                <a:solidFill>
                  <a:schemeClr val="tx1"/>
                </a:solidFill>
                <a:effectLst/>
                <a:latin typeface="Arial" panose="020B0604020202020204" pitchFamily="34" charset="0"/>
              </a:rPr>
              <a:t>Diseñar e implementar módulos principales que integren el registro de usuarios, cursos, materias, horarios y estudiantes, garantizando una administración eficiente y segura de la información.</a:t>
            </a:r>
            <a:endParaRPr kumimoji="0" lang="es-CO" altLang="es-CO" sz="18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8194" name="Picture 2" descr="Cómo elevar la escalabilidad de una empresa?">
            <a:extLst>
              <a:ext uri="{FF2B5EF4-FFF2-40B4-BE49-F238E27FC236}">
                <a16:creationId xmlns:a16="http://schemas.microsoft.com/office/drawing/2014/main" id="{79B7EC1B-AFC9-2A61-7CFA-AB2274CC09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2783" y="3764359"/>
            <a:ext cx="4146433" cy="230357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198473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78677-5C9A-AE4C-5C2F-7B7035763832}"/>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51455B06-3B2A-04E9-0CF1-1BCFAFA1C7C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1F7A3067-A2E5-D8B4-7F1B-F4EE40296365}"/>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E0AAAB4C-6A75-22A2-D693-014D3BE6E095}"/>
                </a:ext>
              </a:extLst>
            </p:cNvPr>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8ED2D286-82B7-E569-1575-F0E834D56A6F}"/>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7DAF93B2-FD8E-D3A3-9066-036D05E6B564}"/>
              </a:ext>
            </a:extLst>
          </p:cNvPr>
          <p:cNvSpPr/>
          <p:nvPr/>
        </p:nvSpPr>
        <p:spPr>
          <a:xfrm>
            <a:off x="460375" y="1732773"/>
            <a:ext cx="6628264" cy="523220"/>
          </a:xfrm>
          <a:prstGeom prst="rect">
            <a:avLst/>
          </a:prstGeom>
        </p:spPr>
        <p:txBody>
          <a:bodyPr wrap="square">
            <a:spAutoFit/>
          </a:bodyPr>
          <a:lstStyle/>
          <a:p>
            <a:r>
              <a:rPr lang="es-MX" sz="2800" dirty="0"/>
              <a:t>Objetivo Específicos:</a:t>
            </a:r>
            <a:endParaRPr lang="es-CO" sz="2800" dirty="0"/>
          </a:p>
        </p:txBody>
      </p:sp>
      <p:cxnSp>
        <p:nvCxnSpPr>
          <p:cNvPr id="17" name="Conector recto 16">
            <a:extLst>
              <a:ext uri="{FF2B5EF4-FFF2-40B4-BE49-F238E27FC236}">
                <a16:creationId xmlns:a16="http://schemas.microsoft.com/office/drawing/2014/main" id="{867DE778-6552-6811-F886-733E5400D3DC}"/>
              </a:ext>
            </a:extLst>
          </p:cNvPr>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73D788D-BAB7-A0FC-6C8A-2800C795A9F7}"/>
              </a:ext>
            </a:extLst>
          </p:cNvPr>
          <p:cNvSpPr>
            <a:spLocks noChangeArrowheads="1"/>
          </p:cNvSpPr>
          <p:nvPr/>
        </p:nvSpPr>
        <p:spPr bwMode="auto">
          <a:xfrm>
            <a:off x="1379173" y="2608015"/>
            <a:ext cx="943365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800" i="0" u="none" strike="noStrike" cap="none" normalizeH="0" baseline="0" dirty="0">
                <a:ln>
                  <a:noFill/>
                </a:ln>
                <a:solidFill>
                  <a:schemeClr val="tx1"/>
                </a:solidFill>
                <a:effectLst/>
                <a:latin typeface="Arial" panose="020B0604020202020204" pitchFamily="34" charset="0"/>
              </a:rPr>
              <a:t>3.</a:t>
            </a:r>
            <a:r>
              <a:rPr kumimoji="0" lang="es-419" altLang="es-CO" sz="1800" i="0" u="none" strike="noStrike" cap="none" normalizeH="0" baseline="0" dirty="0">
                <a:ln>
                  <a:noFill/>
                </a:ln>
                <a:solidFill>
                  <a:schemeClr val="tx1"/>
                </a:solidFill>
                <a:effectLst/>
                <a:latin typeface="Arial" panose="020B0604020202020204" pitchFamily="34" charset="0"/>
              </a:rPr>
              <a:t> Desarrollar un sistema automatizado de registro y notificación de asistencia, que informe en tiempo real a los padres o acudientes sobre inasistencias o retardos de los estudiantes</a:t>
            </a:r>
            <a:r>
              <a:rPr kumimoji="0" lang="es-CO" altLang="es-CO" sz="1800" b="0" i="0" u="none" strike="noStrike" cap="none" normalizeH="0" baseline="0" dirty="0">
                <a:ln>
                  <a:noFill/>
                </a:ln>
                <a:solidFill>
                  <a:schemeClr val="tx1"/>
                </a:solidFill>
                <a:effectLst/>
                <a:latin typeface="Arial" panose="020B0604020202020204" pitchFamily="34" charset="0"/>
              </a:rPr>
              <a:t>.</a:t>
            </a:r>
          </a:p>
        </p:txBody>
      </p:sp>
      <p:pic>
        <p:nvPicPr>
          <p:cNvPr id="9222" name="Picture 6" descr="Cómo realizar un reporte de asistencia? | Módulo Asistencia">
            <a:extLst>
              <a:ext uri="{FF2B5EF4-FFF2-40B4-BE49-F238E27FC236}">
                <a16:creationId xmlns:a16="http://schemas.microsoft.com/office/drawing/2014/main" id="{28F6B896-35F3-41E0-291F-C6A13AA3B0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919" y="3110829"/>
            <a:ext cx="3382947" cy="3382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968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FAD15-7F82-4C32-04D0-7FA491160C28}"/>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ADAE1F37-CCAD-BF08-1DC7-65A12A47B73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073503DC-BFA1-D0E3-F80F-25916B81A7F1}"/>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98798ABE-7A67-14CF-D582-F76CA164BF44}"/>
                </a:ext>
              </a:extLst>
            </p:cNvPr>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F161CCA2-6DA9-5D36-2839-F8C37F6596B2}"/>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172189AB-2D0F-D443-1540-F500EAA94850}"/>
              </a:ext>
            </a:extLst>
          </p:cNvPr>
          <p:cNvSpPr/>
          <p:nvPr/>
        </p:nvSpPr>
        <p:spPr>
          <a:xfrm>
            <a:off x="460375" y="1732773"/>
            <a:ext cx="6628264" cy="523220"/>
          </a:xfrm>
          <a:prstGeom prst="rect">
            <a:avLst/>
          </a:prstGeom>
        </p:spPr>
        <p:txBody>
          <a:bodyPr wrap="square">
            <a:spAutoFit/>
          </a:bodyPr>
          <a:lstStyle/>
          <a:p>
            <a:r>
              <a:rPr lang="es-MX" sz="2800" dirty="0"/>
              <a:t>Objetivo Específicos:</a:t>
            </a:r>
            <a:endParaRPr lang="es-CO" sz="2800" dirty="0"/>
          </a:p>
        </p:txBody>
      </p:sp>
      <p:cxnSp>
        <p:nvCxnSpPr>
          <p:cNvPr id="17" name="Conector recto 16">
            <a:extLst>
              <a:ext uri="{FF2B5EF4-FFF2-40B4-BE49-F238E27FC236}">
                <a16:creationId xmlns:a16="http://schemas.microsoft.com/office/drawing/2014/main" id="{682E3C2D-DA8B-8123-4328-8EC086BD56C0}"/>
              </a:ext>
            </a:extLst>
          </p:cNvPr>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4BA7B6D-0DF8-12E9-0FD6-3513BE3B3B73}"/>
              </a:ext>
            </a:extLst>
          </p:cNvPr>
          <p:cNvSpPr>
            <a:spLocks noChangeArrowheads="1"/>
          </p:cNvSpPr>
          <p:nvPr/>
        </p:nvSpPr>
        <p:spPr bwMode="auto">
          <a:xfrm>
            <a:off x="1174459" y="2469515"/>
            <a:ext cx="943365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800" i="0" u="none" strike="noStrike" cap="none" normalizeH="0" baseline="0" dirty="0">
                <a:ln>
                  <a:noFill/>
                </a:ln>
                <a:solidFill>
                  <a:schemeClr val="tx1"/>
                </a:solidFill>
                <a:effectLst/>
                <a:latin typeface="Arial" panose="020B0604020202020204" pitchFamily="34" charset="0"/>
              </a:rPr>
              <a:t>4. </a:t>
            </a:r>
            <a:r>
              <a:rPr kumimoji="0" lang="es-419" altLang="es-CO" sz="1800" i="0" u="none" strike="noStrike" cap="none" normalizeH="0" baseline="0" dirty="0">
                <a:ln>
                  <a:noFill/>
                </a:ln>
                <a:solidFill>
                  <a:schemeClr val="tx1"/>
                </a:solidFill>
                <a:effectLst/>
                <a:latin typeface="Arial" panose="020B0604020202020204" pitchFamily="34" charset="0"/>
              </a:rPr>
              <a:t>Incorporar una función de alertas inteligentes que detecte cuando un estudiante supera el porcentaje máximo de inasistencias injustificadas permitido, notificando sobre la posible pérdida de la materia.</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pic>
        <p:nvPicPr>
          <p:cNvPr id="2" name="Picture 2" descr="Notificaciones en el gestor de proyectos agile DoneTonic">
            <a:extLst>
              <a:ext uri="{FF2B5EF4-FFF2-40B4-BE49-F238E27FC236}">
                <a16:creationId xmlns:a16="http://schemas.microsoft.com/office/drawing/2014/main" id="{93AEEDBD-BFB8-6F51-7EBC-8C81EFE80D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5825" y="3687659"/>
            <a:ext cx="3210606" cy="2788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757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0301F-8DF4-8A56-5DA7-AFBC57F01EB5}"/>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6FD2C704-6832-DA72-8D91-CBCAB9E6353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889EC9BA-952F-6973-12C5-C674225D991F}"/>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69EC5E11-52B3-E5A7-544F-BEA1AC6D4A47}"/>
                </a:ext>
              </a:extLst>
            </p:cNvPr>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C7BFA6F0-CB6C-1E74-1011-D65E2640F8D4}"/>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709E0423-CE4C-E3A4-EEFC-D9DA6FD25F21}"/>
              </a:ext>
            </a:extLst>
          </p:cNvPr>
          <p:cNvSpPr/>
          <p:nvPr/>
        </p:nvSpPr>
        <p:spPr>
          <a:xfrm>
            <a:off x="460375" y="1732773"/>
            <a:ext cx="6628264" cy="523220"/>
          </a:xfrm>
          <a:prstGeom prst="rect">
            <a:avLst/>
          </a:prstGeom>
        </p:spPr>
        <p:txBody>
          <a:bodyPr wrap="square">
            <a:spAutoFit/>
          </a:bodyPr>
          <a:lstStyle/>
          <a:p>
            <a:r>
              <a:rPr lang="es-MX" sz="2800" dirty="0"/>
              <a:t>Objetivo Específicos:</a:t>
            </a:r>
            <a:endParaRPr lang="es-CO" sz="2800" dirty="0"/>
          </a:p>
        </p:txBody>
      </p:sp>
      <p:cxnSp>
        <p:nvCxnSpPr>
          <p:cNvPr id="17" name="Conector recto 16">
            <a:extLst>
              <a:ext uri="{FF2B5EF4-FFF2-40B4-BE49-F238E27FC236}">
                <a16:creationId xmlns:a16="http://schemas.microsoft.com/office/drawing/2014/main" id="{521FD0BB-702F-D188-50D4-0AE5942F23CC}"/>
              </a:ext>
            </a:extLst>
          </p:cNvPr>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5FED1DD-BCC9-5E6A-0E2D-AC17592F006E}"/>
              </a:ext>
            </a:extLst>
          </p:cNvPr>
          <p:cNvSpPr>
            <a:spLocks noChangeArrowheads="1"/>
          </p:cNvSpPr>
          <p:nvPr/>
        </p:nvSpPr>
        <p:spPr bwMode="auto">
          <a:xfrm>
            <a:off x="1379173" y="2608015"/>
            <a:ext cx="943365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800" i="0" u="none" strike="noStrike" cap="none" normalizeH="0" baseline="0" dirty="0">
                <a:ln>
                  <a:noFill/>
                </a:ln>
                <a:solidFill>
                  <a:schemeClr val="tx1"/>
                </a:solidFill>
                <a:effectLst/>
                <a:latin typeface="Arial" panose="020B0604020202020204" pitchFamily="34" charset="0"/>
              </a:rPr>
              <a:t>5. </a:t>
            </a:r>
            <a:r>
              <a:rPr kumimoji="0" lang="es-419" altLang="es-CO" sz="1800" i="0" u="none" strike="noStrike" cap="none" normalizeH="0" baseline="0" dirty="0">
                <a:ln>
                  <a:noFill/>
                </a:ln>
                <a:solidFill>
                  <a:schemeClr val="tx1"/>
                </a:solidFill>
                <a:effectLst/>
                <a:latin typeface="Arial" panose="020B0604020202020204" pitchFamily="34" charset="0"/>
              </a:rPr>
              <a:t>Generar reportes y estadísticas académicas que faciliten el seguimiento del cumplimiento estudiantil y respalden la toma de decisiones dentro de la institución.</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pic>
        <p:nvPicPr>
          <p:cNvPr id="11266" name="Picture 2" descr="La Tecnología como Aliada para la Sostenibilidad - Innova Más">
            <a:extLst>
              <a:ext uri="{FF2B5EF4-FFF2-40B4-BE49-F238E27FC236}">
                <a16:creationId xmlns:a16="http://schemas.microsoft.com/office/drawing/2014/main" id="{8E728ABD-942C-ABC6-5EAD-F3B5647633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22870" y="3775046"/>
            <a:ext cx="3473040" cy="231536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312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t>Alcance:</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460375" y="2336970"/>
            <a:ext cx="11413177" cy="2308324"/>
          </a:xfrm>
          <a:prstGeom prst="rect">
            <a:avLst/>
          </a:prstGeom>
        </p:spPr>
        <p:txBody>
          <a:bodyPr wrap="square">
            <a:spAutoFit/>
          </a:bodyPr>
          <a:lstStyle/>
          <a:p>
            <a:pPr marL="457200" indent="-457200">
              <a:buFont typeface="Arial" panose="020B0604020202020204" pitchFamily="34" charset="0"/>
              <a:buChar char="•"/>
            </a:pPr>
            <a:r>
              <a:rPr lang="es-MX" dirty="0">
                <a:latin typeface="Arial" panose="020B0604020202020204" pitchFamily="34" charset="0"/>
                <a:cs typeface="Arial" panose="020B0604020202020204" pitchFamily="34" charset="0"/>
              </a:rPr>
              <a:t>El alcance de la aplicación consiste en el desarrollo de una plataforma web orientada al control y notificación de asistencia así como el seguimiento académico ante las faltas injustificadas en la institucione educativa, con funciones como el registro de asistencia, la generación de reportes, la autenticación de usuarios, la administración de cursos y horarios, además del envío automático de notificaciones a los padres. Los principales usuarios del sistema serán docentes, administradores, padres de familia y estudiantes, y en su versión inicial contará con módulos de autenticación, gestión de cursos y materias, gestión de horarios, registro de estudiantes, control de asistencia, notificaciones automáticas y reportes estadísticos.</a:t>
            </a:r>
            <a:endParaRPr lang="es-CO" dirty="0">
              <a:latin typeface="Arial" panose="020B0604020202020204" pitchFamily="34" charset="0"/>
              <a:cs typeface="Arial" panose="020B0604020202020204" pitchFamily="34" charset="0"/>
            </a:endParaRPr>
          </a:p>
        </p:txBody>
      </p:sp>
      <p:pic>
        <p:nvPicPr>
          <p:cNvPr id="5122" name="Picture 2" descr="2.000+ Llegada A Meta Ilustraciones de Stock, gráficos vectoriales libres  de derechos y clip art - iStock | Atletismo, Runner, Línea de meta">
            <a:extLst>
              <a:ext uri="{FF2B5EF4-FFF2-40B4-BE49-F238E27FC236}">
                <a16:creationId xmlns:a16="http://schemas.microsoft.com/office/drawing/2014/main" id="{03461C4B-22AC-E42C-56B5-D8F8ED71F7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39320" y="4622334"/>
            <a:ext cx="1919559" cy="193218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5281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513DB-7B75-5C91-155F-3AE9227DB657}"/>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3E20A427-3149-6E6A-1FCB-AB55F8385E4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C440F5CC-D44D-2A62-225F-B5EBCC5952AF}"/>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28294CB7-2E03-8773-239B-399C82B14BB2}"/>
                </a:ext>
              </a:extLst>
            </p:cNvPr>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03A8EF94-349A-BD50-551B-28C4242C1C93}"/>
                </a:ext>
              </a:extLst>
            </p:cNvPr>
            <p:cNvPicPr>
              <a:picLocks noChangeAspect="1"/>
            </p:cNvPicPr>
            <p:nvPr/>
          </p:nvPicPr>
          <p:blipFill>
            <a:blip r:embed="rId3"/>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F00A466F-DDBC-BEE9-9933-B46C9DE90A51}"/>
              </a:ext>
            </a:extLst>
          </p:cNvPr>
          <p:cNvSpPr/>
          <p:nvPr/>
        </p:nvSpPr>
        <p:spPr>
          <a:xfrm>
            <a:off x="3005035" y="1992831"/>
            <a:ext cx="9916807" cy="1015663"/>
          </a:xfrm>
          <a:prstGeom prst="rect">
            <a:avLst/>
          </a:prstGeom>
        </p:spPr>
        <p:txBody>
          <a:bodyPr wrap="square">
            <a:spAutoFit/>
          </a:bodyPr>
          <a:lstStyle/>
          <a:p>
            <a:r>
              <a:rPr lang="es-MX" sz="6000" dirty="0"/>
              <a:t>Modelo BPMN</a:t>
            </a:r>
            <a:endParaRPr lang="es-CO" sz="6000" dirty="0"/>
          </a:p>
        </p:txBody>
      </p:sp>
      <p:cxnSp>
        <p:nvCxnSpPr>
          <p:cNvPr id="17" name="Conector recto 16">
            <a:extLst>
              <a:ext uri="{FF2B5EF4-FFF2-40B4-BE49-F238E27FC236}">
                <a16:creationId xmlns:a16="http://schemas.microsoft.com/office/drawing/2014/main" id="{206611B5-C4A3-6173-AE75-699FF64DC242}"/>
              </a:ext>
            </a:extLst>
          </p:cNvPr>
          <p:cNvCxnSpPr/>
          <p:nvPr/>
        </p:nvCxnSpPr>
        <p:spPr>
          <a:xfrm>
            <a:off x="307975" y="1047979"/>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3" name="Objeto 2">
            <a:extLst>
              <a:ext uri="{FF2B5EF4-FFF2-40B4-BE49-F238E27FC236}">
                <a16:creationId xmlns:a16="http://schemas.microsoft.com/office/drawing/2014/main" id="{08F107E5-7952-4250-8FE7-7AB127116BCD}"/>
              </a:ext>
            </a:extLst>
          </p:cNvPr>
          <p:cNvGraphicFramePr>
            <a:graphicFrameLocks noChangeAspect="1"/>
          </p:cNvGraphicFramePr>
          <p:nvPr>
            <p:extLst>
              <p:ext uri="{D42A27DB-BD31-4B8C-83A1-F6EECF244321}">
                <p14:modId xmlns:p14="http://schemas.microsoft.com/office/powerpoint/2010/main" val="4131212811"/>
              </p:ext>
            </p:extLst>
          </p:nvPr>
        </p:nvGraphicFramePr>
        <p:xfrm>
          <a:off x="4573479" y="3654209"/>
          <a:ext cx="2224094" cy="1876579"/>
        </p:xfrm>
        <a:graphic>
          <a:graphicData uri="http://schemas.openxmlformats.org/presentationml/2006/ole">
            <mc:AlternateContent xmlns:mc="http://schemas.openxmlformats.org/markup-compatibility/2006">
              <mc:Choice xmlns:v="urn:schemas-microsoft-com:vml" Requires="v">
                <p:oleObj spid="_x0000_s1031" name="Objeto empaquetador del shell" showAsIcon="1" r:id="rId4" imgW="914400" imgH="771698" progId="Package">
                  <p:embed/>
                </p:oleObj>
              </mc:Choice>
              <mc:Fallback>
                <p:oleObj name="Objeto empaquetador del shell" showAsIcon="1" r:id="rId4" imgW="914400" imgH="771698" progId="Package">
                  <p:embed/>
                  <p:pic>
                    <p:nvPicPr>
                      <p:cNvPr id="0" name=""/>
                      <p:cNvPicPr/>
                      <p:nvPr/>
                    </p:nvPicPr>
                    <p:blipFill>
                      <a:blip r:embed="rId5"/>
                      <a:stretch>
                        <a:fillRect/>
                      </a:stretch>
                    </p:blipFill>
                    <p:spPr>
                      <a:xfrm>
                        <a:off x="4573479" y="3654209"/>
                        <a:ext cx="2224094" cy="1876579"/>
                      </a:xfrm>
                      <a:prstGeom prst="rect">
                        <a:avLst/>
                      </a:prstGeom>
                    </p:spPr>
                  </p:pic>
                </p:oleObj>
              </mc:Fallback>
            </mc:AlternateContent>
          </a:graphicData>
        </a:graphic>
      </p:graphicFrame>
    </p:spTree>
    <p:extLst>
      <p:ext uri="{BB962C8B-B14F-4D97-AF65-F5344CB8AC3E}">
        <p14:creationId xmlns:p14="http://schemas.microsoft.com/office/powerpoint/2010/main" val="1915512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2AFEC-4153-CDEC-67CF-76FCFC97C748}"/>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B1B1C8F1-71C1-0DFF-92E8-603483E0A4B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CD00CEAD-3F63-35DD-C0C1-60B6B919D8CF}"/>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C0D0FDDB-4DCC-1229-5AC2-1EA1A1A3AB4E}"/>
                </a:ext>
              </a:extLst>
            </p:cNvPr>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DE8867B9-169D-3E1F-3885-8B1E363749D1}"/>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F396C5A7-54D8-F104-D956-BF9C7FBC43E8}"/>
              </a:ext>
            </a:extLst>
          </p:cNvPr>
          <p:cNvSpPr/>
          <p:nvPr/>
        </p:nvSpPr>
        <p:spPr>
          <a:xfrm>
            <a:off x="2378427" y="3201241"/>
            <a:ext cx="8925886" cy="1015663"/>
          </a:xfrm>
          <a:prstGeom prst="rect">
            <a:avLst/>
          </a:prstGeom>
        </p:spPr>
        <p:txBody>
          <a:bodyPr wrap="square">
            <a:spAutoFit/>
          </a:bodyPr>
          <a:lstStyle/>
          <a:p>
            <a:r>
              <a:rPr lang="es-MX" sz="6000" dirty="0"/>
              <a:t>Resultados encuesta</a:t>
            </a:r>
            <a:endParaRPr lang="es-CO" sz="6000" dirty="0"/>
          </a:p>
        </p:txBody>
      </p:sp>
      <p:cxnSp>
        <p:nvCxnSpPr>
          <p:cNvPr id="17" name="Conector recto 16">
            <a:extLst>
              <a:ext uri="{FF2B5EF4-FFF2-40B4-BE49-F238E27FC236}">
                <a16:creationId xmlns:a16="http://schemas.microsoft.com/office/drawing/2014/main" id="{26BF7343-99D0-0CA4-35C6-82191F3717ED}"/>
              </a:ext>
            </a:extLst>
          </p:cNvPr>
          <p:cNvCxnSpPr/>
          <p:nvPr/>
        </p:nvCxnSpPr>
        <p:spPr>
          <a:xfrm>
            <a:off x="307975" y="1047979"/>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2467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91A636-6C92-51D6-D55C-CED190101558}"/>
              </a:ext>
            </a:extLst>
          </p:cNvPr>
          <p:cNvSpPr>
            <a:spLocks noGrp="1"/>
          </p:cNvSpPr>
          <p:nvPr>
            <p:ph type="title"/>
          </p:nvPr>
        </p:nvSpPr>
        <p:spPr/>
        <p:txBody>
          <a:bodyPr/>
          <a:lstStyle/>
          <a:p>
            <a:r>
              <a:rPr lang="es-MX" dirty="0"/>
              <a:t>¿Que tipo de usuario eres?</a:t>
            </a:r>
            <a:endParaRPr lang="es-419" dirty="0"/>
          </a:p>
        </p:txBody>
      </p:sp>
      <p:sp>
        <p:nvSpPr>
          <p:cNvPr id="7" name="Marcador de contenido 6">
            <a:extLst>
              <a:ext uri="{FF2B5EF4-FFF2-40B4-BE49-F238E27FC236}">
                <a16:creationId xmlns:a16="http://schemas.microsoft.com/office/drawing/2014/main" id="{11AF0D9B-50AE-7016-BCED-3766F38153AA}"/>
              </a:ext>
            </a:extLst>
          </p:cNvPr>
          <p:cNvSpPr>
            <a:spLocks noGrp="1"/>
          </p:cNvSpPr>
          <p:nvPr>
            <p:ph idx="1"/>
          </p:nvPr>
        </p:nvSpPr>
        <p:spPr/>
        <p:txBody>
          <a:bodyPr/>
          <a:lstStyle/>
          <a:p>
            <a:endParaRPr lang="es-419"/>
          </a:p>
        </p:txBody>
      </p:sp>
      <p:pic>
        <p:nvPicPr>
          <p:cNvPr id="1026" name="Picture 2" descr="Gráfico de respuestas de formularios. Título de la pregunta: ¿Que tipo de usuario eres?. Número de respuestas: 21 respuestas.">
            <a:extLst>
              <a:ext uri="{FF2B5EF4-FFF2-40B4-BE49-F238E27FC236}">
                <a16:creationId xmlns:a16="http://schemas.microsoft.com/office/drawing/2014/main" id="{9000D4D5-43B6-A473-CA70-D44F496073D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2133600"/>
            <a:ext cx="9066212" cy="3814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0478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66A04F-8ADC-27BE-7624-642AC118D0EE}"/>
              </a:ext>
            </a:extLst>
          </p:cNvPr>
          <p:cNvSpPr>
            <a:spLocks noGrp="1"/>
          </p:cNvSpPr>
          <p:nvPr>
            <p:ph type="title"/>
          </p:nvPr>
        </p:nvSpPr>
        <p:spPr/>
        <p:txBody>
          <a:bodyPr>
            <a:normAutofit fontScale="90000"/>
          </a:bodyPr>
          <a:lstStyle/>
          <a:p>
            <a:r>
              <a:rPr lang="es-MX" dirty="0"/>
              <a:t>   ¿Le gustaría tener una plataforma para registrar asistencia de manera digital?   </a:t>
            </a:r>
            <a:endParaRPr lang="es-419" dirty="0"/>
          </a:p>
        </p:txBody>
      </p:sp>
      <p:sp>
        <p:nvSpPr>
          <p:cNvPr id="8" name="Marcador de contenido 7">
            <a:extLst>
              <a:ext uri="{FF2B5EF4-FFF2-40B4-BE49-F238E27FC236}">
                <a16:creationId xmlns:a16="http://schemas.microsoft.com/office/drawing/2014/main" id="{BC36F06C-309E-B570-2ABD-7AE4631FCBB9}"/>
              </a:ext>
            </a:extLst>
          </p:cNvPr>
          <p:cNvSpPr>
            <a:spLocks noGrp="1"/>
          </p:cNvSpPr>
          <p:nvPr>
            <p:ph idx="1"/>
          </p:nvPr>
        </p:nvSpPr>
        <p:spPr/>
        <p:txBody>
          <a:bodyPr/>
          <a:lstStyle/>
          <a:p>
            <a:endParaRPr lang="es-419"/>
          </a:p>
        </p:txBody>
      </p:sp>
      <p:pic>
        <p:nvPicPr>
          <p:cNvPr id="2052" name="Picture 4" descr="Gráfico de respuestas de formularios. Título de la pregunta:   ¿Le gustaría tener una plataforma para registrar asistencia de manera digital?   . Número de respuestas: 12 respuestas.">
            <a:extLst>
              <a:ext uri="{FF2B5EF4-FFF2-40B4-BE49-F238E27FC236}">
                <a16:creationId xmlns:a16="http://schemas.microsoft.com/office/drawing/2014/main" id="{807D8653-7FFB-2EC7-BEE0-BED6BBABF9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17788" y="2133600"/>
            <a:ext cx="8979304" cy="3777622"/>
          </a:xfrm>
          <a:prstGeom prst="rect">
            <a:avLst/>
          </a:prstGeom>
          <a:noFill/>
          <a:extLst>
            <a:ext uri="{909E8E84-426E-40DD-AFC4-6F175D3DCCD1}">
              <a14:hiddenFill xmlns:a14="http://schemas.microsoft.com/office/drawing/2010/main">
                <a:solidFill>
                  <a:srgbClr val="FFFFFF"/>
                </a:solidFill>
              </a14:hiddenFill>
            </a:ext>
          </a:extLst>
        </p:spPr>
      </p:pic>
      <p:sp>
        <p:nvSpPr>
          <p:cNvPr id="12" name="Marcador de número de diapositiva 11">
            <a:extLst>
              <a:ext uri="{FF2B5EF4-FFF2-40B4-BE49-F238E27FC236}">
                <a16:creationId xmlns:a16="http://schemas.microsoft.com/office/drawing/2014/main" id="{06632066-31F8-5B31-CE37-53D53ACB6579}"/>
              </a:ext>
            </a:extLst>
          </p:cNvPr>
          <p:cNvSpPr>
            <a:spLocks noGrp="1"/>
          </p:cNvSpPr>
          <p:nvPr>
            <p:ph type="sldNum" sz="quarter" idx="12"/>
          </p:nvPr>
        </p:nvSpPr>
        <p:spPr>
          <a:xfrm>
            <a:off x="548746" y="762382"/>
            <a:ext cx="779767" cy="365125"/>
          </a:xfrm>
        </p:spPr>
        <p:txBody>
          <a:bodyPr/>
          <a:lstStyle/>
          <a:p>
            <a:fld id="{563AC2A5-5C3E-4220-BB99-01E3C4CB1A8D}" type="slidenum">
              <a:rPr lang="es-CO" sz="3200" smtClean="0">
                <a:solidFill>
                  <a:srgbClr val="00B0F0"/>
                </a:solidFill>
                <a:latin typeface="Algerian" panose="04020705040A02060702" pitchFamily="82" charset="0"/>
              </a:rPr>
              <a:t>17</a:t>
            </a:fld>
            <a:endParaRPr lang="es-CO" dirty="0">
              <a:solidFill>
                <a:srgbClr val="00B0F0"/>
              </a:solidFill>
              <a:latin typeface="Algerian" panose="04020705040A02060702" pitchFamily="82" charset="0"/>
            </a:endParaRPr>
          </a:p>
        </p:txBody>
      </p:sp>
    </p:spTree>
    <p:extLst>
      <p:ext uri="{BB962C8B-B14F-4D97-AF65-F5344CB8AC3E}">
        <p14:creationId xmlns:p14="http://schemas.microsoft.com/office/powerpoint/2010/main" val="3170166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2143C1-ECBC-59A6-6725-8C70BEEB8196}"/>
              </a:ext>
            </a:extLst>
          </p:cNvPr>
          <p:cNvSpPr>
            <a:spLocks noGrp="1"/>
          </p:cNvSpPr>
          <p:nvPr>
            <p:ph type="title"/>
          </p:nvPr>
        </p:nvSpPr>
        <p:spPr/>
        <p:txBody>
          <a:bodyPr>
            <a:normAutofit fontScale="90000"/>
          </a:bodyPr>
          <a:lstStyle/>
          <a:p>
            <a:r>
              <a:rPr lang="es-MX" dirty="0"/>
              <a:t>¿Cree que sería más fácil registrar retardos e inasistencias en una aplicación que en papel?  </a:t>
            </a:r>
            <a:endParaRPr lang="es-419" dirty="0"/>
          </a:p>
        </p:txBody>
      </p:sp>
      <p:pic>
        <p:nvPicPr>
          <p:cNvPr id="3074" name="Picture 2" descr="Gráfico de respuestas de formularios. Título de la pregunta:   ¿Cree que sería más fácil registrar retardos e inasistencias en una aplicación que en papel?  . Número de respuestas: 12 respuestas.">
            <a:extLst>
              <a:ext uri="{FF2B5EF4-FFF2-40B4-BE49-F238E27FC236}">
                <a16:creationId xmlns:a16="http://schemas.microsoft.com/office/drawing/2014/main" id="{884F8C26-865F-9531-B8B4-6FA57B071010}"/>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89213" y="2147081"/>
            <a:ext cx="8915400" cy="3751288"/>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número de diapositiva 6">
            <a:extLst>
              <a:ext uri="{FF2B5EF4-FFF2-40B4-BE49-F238E27FC236}">
                <a16:creationId xmlns:a16="http://schemas.microsoft.com/office/drawing/2014/main" id="{0F2FAF1E-CAAC-3D83-4069-BED4B404D860}"/>
              </a:ext>
            </a:extLst>
          </p:cNvPr>
          <p:cNvSpPr>
            <a:spLocks noGrp="1"/>
          </p:cNvSpPr>
          <p:nvPr>
            <p:ph type="sldNum" sz="quarter" idx="12"/>
          </p:nvPr>
        </p:nvSpPr>
        <p:spPr>
          <a:xfrm>
            <a:off x="497945" y="762382"/>
            <a:ext cx="779767" cy="365125"/>
          </a:xfrm>
        </p:spPr>
        <p:txBody>
          <a:bodyPr/>
          <a:lstStyle/>
          <a:p>
            <a:fld id="{563AC2A5-5C3E-4220-BB99-01E3C4CB1A8D}" type="slidenum">
              <a:rPr lang="es-CO" sz="2800" smtClean="0">
                <a:solidFill>
                  <a:srgbClr val="00B0F0"/>
                </a:solidFill>
                <a:latin typeface="Algerian" panose="04020705040A02060702" pitchFamily="82" charset="0"/>
              </a:rPr>
              <a:t>18</a:t>
            </a:fld>
            <a:endParaRPr lang="es-CO" dirty="0">
              <a:solidFill>
                <a:srgbClr val="00B0F0"/>
              </a:solidFill>
              <a:latin typeface="Algerian" panose="04020705040A02060702" pitchFamily="82" charset="0"/>
            </a:endParaRPr>
          </a:p>
        </p:txBody>
      </p:sp>
    </p:spTree>
    <p:extLst>
      <p:ext uri="{BB962C8B-B14F-4D97-AF65-F5344CB8AC3E}">
        <p14:creationId xmlns:p14="http://schemas.microsoft.com/office/powerpoint/2010/main" val="4110984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81C91-7F58-8530-4383-22CED050AC2C}"/>
              </a:ext>
            </a:extLst>
          </p:cNvPr>
          <p:cNvSpPr>
            <a:spLocks noGrp="1"/>
          </p:cNvSpPr>
          <p:nvPr>
            <p:ph type="title"/>
          </p:nvPr>
        </p:nvSpPr>
        <p:spPr/>
        <p:txBody>
          <a:bodyPr>
            <a:normAutofit fontScale="90000"/>
          </a:bodyPr>
          <a:lstStyle/>
          <a:p>
            <a:r>
              <a:rPr lang="es-MX" dirty="0"/>
              <a:t> ¿Le facilitaría contar con un sistema que genere reportes automáticos de asistencia cada mes?  </a:t>
            </a:r>
            <a:endParaRPr lang="es-419" dirty="0"/>
          </a:p>
        </p:txBody>
      </p:sp>
      <p:pic>
        <p:nvPicPr>
          <p:cNvPr id="4098" name="Picture 2" descr="Gráfico de respuestas de formularios. Título de la pregunta:   ¿Le facilitaría contar con un sistema que genere reportes automáticos de asistencia cada mes?  . Número de respuestas: 12 respuestas.">
            <a:extLst>
              <a:ext uri="{FF2B5EF4-FFF2-40B4-BE49-F238E27FC236}">
                <a16:creationId xmlns:a16="http://schemas.microsoft.com/office/drawing/2014/main" id="{955F49DD-1BCF-0EEE-42F6-530B4E4E73C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89213" y="2147081"/>
            <a:ext cx="8915400" cy="3751288"/>
          </a:xfrm>
          <a:prstGeom prst="rect">
            <a:avLst/>
          </a:prstGeom>
          <a:noFill/>
          <a:extLst>
            <a:ext uri="{909E8E84-426E-40DD-AFC4-6F175D3DCCD1}">
              <a14:hiddenFill xmlns:a14="http://schemas.microsoft.com/office/drawing/2010/main">
                <a:solidFill>
                  <a:srgbClr val="FFFFFF"/>
                </a:solidFill>
              </a14:hiddenFill>
            </a:ext>
          </a:extLst>
        </p:spPr>
      </p:pic>
      <p:sp>
        <p:nvSpPr>
          <p:cNvPr id="9" name="Marcador de número de diapositiva 8">
            <a:extLst>
              <a:ext uri="{FF2B5EF4-FFF2-40B4-BE49-F238E27FC236}">
                <a16:creationId xmlns:a16="http://schemas.microsoft.com/office/drawing/2014/main" id="{6A876EAC-1D11-6A47-BFAF-E8CF46112434}"/>
              </a:ext>
            </a:extLst>
          </p:cNvPr>
          <p:cNvSpPr>
            <a:spLocks noGrp="1"/>
          </p:cNvSpPr>
          <p:nvPr>
            <p:ph type="sldNum" sz="quarter" idx="12"/>
          </p:nvPr>
        </p:nvSpPr>
        <p:spPr/>
        <p:txBody>
          <a:bodyPr/>
          <a:lstStyle/>
          <a:p>
            <a:fld id="{563AC2A5-5C3E-4220-BB99-01E3C4CB1A8D}" type="slidenum">
              <a:rPr lang="es-CO" sz="2800" smtClean="0">
                <a:solidFill>
                  <a:srgbClr val="00B0F0"/>
                </a:solidFill>
                <a:latin typeface="Algerian" panose="04020705040A02060702" pitchFamily="82" charset="0"/>
              </a:rPr>
              <a:t>19</a:t>
            </a:fld>
            <a:endParaRPr lang="es-CO" dirty="0">
              <a:solidFill>
                <a:srgbClr val="00B0F0"/>
              </a:solidFill>
              <a:latin typeface="Algerian" panose="04020705040A02060702" pitchFamily="82" charset="0"/>
            </a:endParaRPr>
          </a:p>
        </p:txBody>
      </p:sp>
    </p:spTree>
    <p:extLst>
      <p:ext uri="{BB962C8B-B14F-4D97-AF65-F5344CB8AC3E}">
        <p14:creationId xmlns:p14="http://schemas.microsoft.com/office/powerpoint/2010/main" val="2520743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3016AE-3378-622F-C5F6-86B0A6064806}"/>
              </a:ext>
            </a:extLst>
          </p:cNvPr>
          <p:cNvSpPr>
            <a:spLocks noGrp="1"/>
          </p:cNvSpPr>
          <p:nvPr>
            <p:ph type="title"/>
          </p:nvPr>
        </p:nvSpPr>
        <p:spPr>
          <a:xfrm>
            <a:off x="1634067" y="624109"/>
            <a:ext cx="9870545" cy="1399423"/>
          </a:xfrm>
        </p:spPr>
        <p:txBody>
          <a:bodyPr>
            <a:normAutofit fontScale="90000"/>
          </a:bodyPr>
          <a:lstStyle/>
          <a:p>
            <a:r>
              <a:rPr lang="es-MX" dirty="0"/>
              <a:t>¿Le gustaría recibir una notificación inmediata al correo si su hijo falta a clase o llega tarde?</a:t>
            </a:r>
            <a:endParaRPr lang="es-419" dirty="0"/>
          </a:p>
        </p:txBody>
      </p:sp>
      <p:sp>
        <p:nvSpPr>
          <p:cNvPr id="4" name="Marcador de número de diapositiva 3">
            <a:extLst>
              <a:ext uri="{FF2B5EF4-FFF2-40B4-BE49-F238E27FC236}">
                <a16:creationId xmlns:a16="http://schemas.microsoft.com/office/drawing/2014/main" id="{AEC7CDAF-7C56-1B6F-C967-7931F8AC1656}"/>
              </a:ext>
            </a:extLst>
          </p:cNvPr>
          <p:cNvSpPr>
            <a:spLocks noGrp="1"/>
          </p:cNvSpPr>
          <p:nvPr>
            <p:ph type="sldNum" sz="quarter" idx="12"/>
          </p:nvPr>
        </p:nvSpPr>
        <p:spPr/>
        <p:txBody>
          <a:bodyPr/>
          <a:lstStyle/>
          <a:p>
            <a:fld id="{563AC2A5-5C3E-4220-BB99-01E3C4CB1A8D}" type="slidenum">
              <a:rPr lang="es-CO" sz="2800" smtClean="0">
                <a:solidFill>
                  <a:srgbClr val="FF0000"/>
                </a:solidFill>
                <a:latin typeface="Algerian" panose="04020705040A02060702" pitchFamily="82" charset="0"/>
              </a:rPr>
              <a:t>20</a:t>
            </a:fld>
            <a:endParaRPr lang="es-CO" dirty="0">
              <a:solidFill>
                <a:srgbClr val="FF0000"/>
              </a:solidFill>
              <a:latin typeface="Algerian" panose="04020705040A02060702" pitchFamily="82" charset="0"/>
            </a:endParaRPr>
          </a:p>
        </p:txBody>
      </p:sp>
      <p:pic>
        <p:nvPicPr>
          <p:cNvPr id="12290" name="Picture 2" descr="Gráfico de respuestas de formularios. Título de la pregunta:   ¿Le gustaría recibir una notificación inmediata al correo si su hijo falta a clase o llega tarde?   . Número de respuestas: 9 respuestas.">
            <a:extLst>
              <a:ext uri="{FF2B5EF4-FFF2-40B4-BE49-F238E27FC236}">
                <a16:creationId xmlns:a16="http://schemas.microsoft.com/office/drawing/2014/main" id="{C88F8538-F767-1C0A-B981-500E7C5F043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89213" y="2147081"/>
            <a:ext cx="8915400" cy="3751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720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78732A-40C5-4262-8001-2665EDD1A1D4}"/>
              </a:ext>
            </a:extLst>
          </p:cNvPr>
          <p:cNvSpPr>
            <a:spLocks noGrp="1"/>
          </p:cNvSpPr>
          <p:nvPr>
            <p:ph type="title"/>
          </p:nvPr>
        </p:nvSpPr>
        <p:spPr>
          <a:xfrm>
            <a:off x="2175933" y="624109"/>
            <a:ext cx="9328679" cy="1390957"/>
          </a:xfrm>
        </p:spPr>
        <p:txBody>
          <a:bodyPr>
            <a:normAutofit fontScale="90000"/>
          </a:bodyPr>
          <a:lstStyle/>
          <a:p>
            <a:r>
              <a:rPr lang="es-MX" dirty="0"/>
              <a:t>  ¿Cree que sería útil tener acceso a un reporte mensual de asistencia de su hijo(a)?  </a:t>
            </a:r>
            <a:endParaRPr lang="es-419" dirty="0"/>
          </a:p>
        </p:txBody>
      </p:sp>
      <p:sp>
        <p:nvSpPr>
          <p:cNvPr id="4" name="Marcador de número de diapositiva 3">
            <a:extLst>
              <a:ext uri="{FF2B5EF4-FFF2-40B4-BE49-F238E27FC236}">
                <a16:creationId xmlns:a16="http://schemas.microsoft.com/office/drawing/2014/main" id="{5659A0D8-9596-AF30-04F9-59332AAD9DF2}"/>
              </a:ext>
            </a:extLst>
          </p:cNvPr>
          <p:cNvSpPr>
            <a:spLocks noGrp="1"/>
          </p:cNvSpPr>
          <p:nvPr>
            <p:ph type="sldNum" sz="quarter" idx="12"/>
          </p:nvPr>
        </p:nvSpPr>
        <p:spPr/>
        <p:txBody>
          <a:bodyPr/>
          <a:lstStyle/>
          <a:p>
            <a:fld id="{563AC2A5-5C3E-4220-BB99-01E3C4CB1A8D}" type="slidenum">
              <a:rPr lang="es-CO" sz="2800" smtClean="0">
                <a:solidFill>
                  <a:srgbClr val="FF0000"/>
                </a:solidFill>
                <a:latin typeface="Algerian" panose="04020705040A02060702" pitchFamily="82" charset="0"/>
              </a:rPr>
              <a:t>21</a:t>
            </a:fld>
            <a:endParaRPr lang="es-CO" dirty="0">
              <a:solidFill>
                <a:srgbClr val="FF0000"/>
              </a:solidFill>
              <a:latin typeface="Algerian" panose="04020705040A02060702" pitchFamily="82" charset="0"/>
            </a:endParaRPr>
          </a:p>
        </p:txBody>
      </p:sp>
      <p:pic>
        <p:nvPicPr>
          <p:cNvPr id="13314" name="Picture 2" descr="Gráfico de respuestas de formularios. Título de la pregunta:   ¿Cree que sería útil tener acceso a un reporte mensual de asistencia de su hijo(a)?  . Número de respuestas: 9 respuestas.">
            <a:extLst>
              <a:ext uri="{FF2B5EF4-FFF2-40B4-BE49-F238E27FC236}">
                <a16:creationId xmlns:a16="http://schemas.microsoft.com/office/drawing/2014/main" id="{CD35DEB4-CCD7-BD76-1DFC-825CBFD893B5}"/>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89213" y="2147081"/>
            <a:ext cx="8915400" cy="3751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7532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CD85FC-372B-1722-3DD8-E3B2A205E540}"/>
              </a:ext>
            </a:extLst>
          </p:cNvPr>
          <p:cNvSpPr>
            <a:spLocks noGrp="1"/>
          </p:cNvSpPr>
          <p:nvPr>
            <p:ph type="title"/>
          </p:nvPr>
        </p:nvSpPr>
        <p:spPr>
          <a:xfrm>
            <a:off x="2353733" y="624110"/>
            <a:ext cx="9150879" cy="1357090"/>
          </a:xfrm>
        </p:spPr>
        <p:txBody>
          <a:bodyPr>
            <a:normAutofit fontScale="90000"/>
          </a:bodyPr>
          <a:lstStyle/>
          <a:p>
            <a:r>
              <a:rPr lang="es-MX" dirty="0"/>
              <a:t>  ¿Le facilitaría poder consultar la asistencia de su hijo(a) desde cualquier dispositivo con internet?   </a:t>
            </a:r>
            <a:endParaRPr lang="es-419" dirty="0"/>
          </a:p>
        </p:txBody>
      </p:sp>
      <p:sp>
        <p:nvSpPr>
          <p:cNvPr id="4" name="Marcador de número de diapositiva 3">
            <a:extLst>
              <a:ext uri="{FF2B5EF4-FFF2-40B4-BE49-F238E27FC236}">
                <a16:creationId xmlns:a16="http://schemas.microsoft.com/office/drawing/2014/main" id="{8C189640-F800-FD83-ACDE-21D764414956}"/>
              </a:ext>
            </a:extLst>
          </p:cNvPr>
          <p:cNvSpPr>
            <a:spLocks noGrp="1"/>
          </p:cNvSpPr>
          <p:nvPr>
            <p:ph type="sldNum" sz="quarter" idx="12"/>
          </p:nvPr>
        </p:nvSpPr>
        <p:spPr/>
        <p:txBody>
          <a:bodyPr/>
          <a:lstStyle/>
          <a:p>
            <a:fld id="{563AC2A5-5C3E-4220-BB99-01E3C4CB1A8D}" type="slidenum">
              <a:rPr lang="es-CO" sz="2800" smtClean="0">
                <a:solidFill>
                  <a:srgbClr val="FF0000"/>
                </a:solidFill>
                <a:latin typeface="Algerian" panose="04020705040A02060702" pitchFamily="82" charset="0"/>
              </a:rPr>
              <a:t>22</a:t>
            </a:fld>
            <a:endParaRPr lang="es-CO" sz="2800" dirty="0">
              <a:solidFill>
                <a:srgbClr val="FF0000"/>
              </a:solidFill>
              <a:latin typeface="Algerian" panose="04020705040A02060702" pitchFamily="82" charset="0"/>
            </a:endParaRPr>
          </a:p>
        </p:txBody>
      </p:sp>
      <p:pic>
        <p:nvPicPr>
          <p:cNvPr id="14338" name="Picture 2" descr="Gráfico de respuestas de formularios. Título de la pregunta:   ¿Le facilitaría poder consultar la asistencia de su hijo(a) desde cualquier dispositivo con internet?   . Número de respuestas: 9 respuestas.">
            <a:extLst>
              <a:ext uri="{FF2B5EF4-FFF2-40B4-BE49-F238E27FC236}">
                <a16:creationId xmlns:a16="http://schemas.microsoft.com/office/drawing/2014/main" id="{3D3F2C62-F5FF-12CB-5D3C-ADB4A93DBC6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881734" y="2133600"/>
            <a:ext cx="8330358" cy="377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651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D29CBE-9821-7EF3-71DA-9FF3D9B4148B}"/>
              </a:ext>
            </a:extLst>
          </p:cNvPr>
          <p:cNvSpPr>
            <a:spLocks noGrp="1"/>
          </p:cNvSpPr>
          <p:nvPr>
            <p:ph type="title"/>
          </p:nvPr>
        </p:nvSpPr>
        <p:spPr/>
        <p:txBody>
          <a:bodyPr>
            <a:normAutofit fontScale="90000"/>
          </a:bodyPr>
          <a:lstStyle/>
          <a:p>
            <a:r>
              <a:rPr lang="es-MX" dirty="0"/>
              <a:t>¿Le facilitaría que la interfaz sea sencilla e intuitiva, sin necesidad de capacitación avanzada?  </a:t>
            </a:r>
            <a:endParaRPr lang="es-419" dirty="0"/>
          </a:p>
        </p:txBody>
      </p:sp>
      <p:pic>
        <p:nvPicPr>
          <p:cNvPr id="8194" name="Picture 2" descr="Gráfico de respuestas de formularios. Título de la pregunta:   ¿Le facilitaría que la interfaz sea sencilla e intuitiva, sin necesidad de capacitación avanzada?  . Número de respuestas: 12 respuestas.">
            <a:extLst>
              <a:ext uri="{FF2B5EF4-FFF2-40B4-BE49-F238E27FC236}">
                <a16:creationId xmlns:a16="http://schemas.microsoft.com/office/drawing/2014/main" id="{2C31172D-3924-D06B-6170-04406DC552E5}"/>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1070" y="2241972"/>
            <a:ext cx="6132092" cy="2821734"/>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número de diapositiva 6">
            <a:extLst>
              <a:ext uri="{FF2B5EF4-FFF2-40B4-BE49-F238E27FC236}">
                <a16:creationId xmlns:a16="http://schemas.microsoft.com/office/drawing/2014/main" id="{4018CC70-A1E7-5EF5-0882-B3F8E4C4D817}"/>
              </a:ext>
            </a:extLst>
          </p:cNvPr>
          <p:cNvSpPr>
            <a:spLocks noGrp="1"/>
          </p:cNvSpPr>
          <p:nvPr>
            <p:ph type="sldNum" sz="quarter" idx="12"/>
          </p:nvPr>
        </p:nvSpPr>
        <p:spPr/>
        <p:txBody>
          <a:bodyPr/>
          <a:lstStyle/>
          <a:p>
            <a:fld id="{563AC2A5-5C3E-4220-BB99-01E3C4CB1A8D}" type="slidenum">
              <a:rPr lang="es-CO" sz="2800" smtClean="0">
                <a:solidFill>
                  <a:schemeClr val="bg1"/>
                </a:solidFill>
                <a:latin typeface="Algerian" panose="04020705040A02060702" pitchFamily="82" charset="0"/>
              </a:rPr>
              <a:t>23</a:t>
            </a:fld>
            <a:endParaRPr lang="es-CO" sz="2800" dirty="0">
              <a:solidFill>
                <a:schemeClr val="bg1"/>
              </a:solidFill>
              <a:latin typeface="Algerian" panose="04020705040A02060702" pitchFamily="82" charset="0"/>
            </a:endParaRPr>
          </a:p>
        </p:txBody>
      </p:sp>
      <p:pic>
        <p:nvPicPr>
          <p:cNvPr id="3" name="Picture 2" descr="Gráfico de respuestas de formularios. Título de la pregunta:   ¿Le facilitaría que la interfaz sea sencilla e intuitiva, sin necesidad de capacitación avanzada?  . Número de respuestas: 9 respuestas.">
            <a:extLst>
              <a:ext uri="{FF2B5EF4-FFF2-40B4-BE49-F238E27FC236}">
                <a16:creationId xmlns:a16="http://schemas.microsoft.com/office/drawing/2014/main" id="{6BB0D574-7501-2DBB-2301-B6F7AAB63D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23162" y="2241972"/>
            <a:ext cx="5868839" cy="282173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de flecha 4">
            <a:extLst>
              <a:ext uri="{FF2B5EF4-FFF2-40B4-BE49-F238E27FC236}">
                <a16:creationId xmlns:a16="http://schemas.microsoft.com/office/drawing/2014/main" id="{B25AD5D4-6E82-5E25-6C1F-E47103E54C56}"/>
              </a:ext>
            </a:extLst>
          </p:cNvPr>
          <p:cNvCxnSpPr>
            <a:cxnSpLocks/>
            <a:stCxn id="8194" idx="2"/>
          </p:cNvCxnSpPr>
          <p:nvPr/>
        </p:nvCxnSpPr>
        <p:spPr>
          <a:xfrm>
            <a:off x="3257116" y="5063706"/>
            <a:ext cx="0" cy="414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Conector recto de flecha 7">
            <a:extLst>
              <a:ext uri="{FF2B5EF4-FFF2-40B4-BE49-F238E27FC236}">
                <a16:creationId xmlns:a16="http://schemas.microsoft.com/office/drawing/2014/main" id="{B5EAF29F-4AFE-C525-E589-0AE21E433C73}"/>
              </a:ext>
            </a:extLst>
          </p:cNvPr>
          <p:cNvCxnSpPr>
            <a:cxnSpLocks/>
          </p:cNvCxnSpPr>
          <p:nvPr/>
        </p:nvCxnSpPr>
        <p:spPr>
          <a:xfrm>
            <a:off x="9448006" y="5063706"/>
            <a:ext cx="0" cy="414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ángulo 9">
            <a:extLst>
              <a:ext uri="{FF2B5EF4-FFF2-40B4-BE49-F238E27FC236}">
                <a16:creationId xmlns:a16="http://schemas.microsoft.com/office/drawing/2014/main" id="{3BF330AB-8434-6A09-F510-715A2010AFDA}"/>
              </a:ext>
            </a:extLst>
          </p:cNvPr>
          <p:cNvSpPr/>
          <p:nvPr/>
        </p:nvSpPr>
        <p:spPr>
          <a:xfrm>
            <a:off x="2592925" y="5477773"/>
            <a:ext cx="1539125" cy="75611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Docente</a:t>
            </a:r>
            <a:endParaRPr lang="es-419" dirty="0"/>
          </a:p>
        </p:txBody>
      </p:sp>
      <p:sp>
        <p:nvSpPr>
          <p:cNvPr id="11" name="Rectángulo 10">
            <a:extLst>
              <a:ext uri="{FF2B5EF4-FFF2-40B4-BE49-F238E27FC236}">
                <a16:creationId xmlns:a16="http://schemas.microsoft.com/office/drawing/2014/main" id="{BEA7A059-2FCF-5496-EA86-417732161703}"/>
              </a:ext>
            </a:extLst>
          </p:cNvPr>
          <p:cNvSpPr/>
          <p:nvPr/>
        </p:nvSpPr>
        <p:spPr>
          <a:xfrm>
            <a:off x="8798945" y="5477774"/>
            <a:ext cx="1492366" cy="7561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Padres o acudiente </a:t>
            </a:r>
            <a:endParaRPr lang="es-419" dirty="0"/>
          </a:p>
        </p:txBody>
      </p:sp>
    </p:spTree>
    <p:extLst>
      <p:ext uri="{BB962C8B-B14F-4D97-AF65-F5344CB8AC3E}">
        <p14:creationId xmlns:p14="http://schemas.microsoft.com/office/powerpoint/2010/main" val="2461390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A60969-9FD5-D435-1E25-3AF9A67A4A96}"/>
              </a:ext>
            </a:extLst>
          </p:cNvPr>
          <p:cNvSpPr>
            <a:spLocks noGrp="1"/>
          </p:cNvSpPr>
          <p:nvPr>
            <p:ph type="title"/>
          </p:nvPr>
        </p:nvSpPr>
        <p:spPr/>
        <p:txBody>
          <a:bodyPr>
            <a:normAutofit fontScale="90000"/>
          </a:bodyPr>
          <a:lstStyle/>
          <a:p>
            <a:r>
              <a:rPr lang="es-MX" dirty="0"/>
              <a:t>  ¿Cree que la plataforma aportaría mayor organización y control frente al manejo manual de la asistencia?   </a:t>
            </a:r>
            <a:endParaRPr lang="es-419" dirty="0"/>
          </a:p>
        </p:txBody>
      </p:sp>
      <p:pic>
        <p:nvPicPr>
          <p:cNvPr id="9218" name="Picture 2" descr="Gráfico de respuestas de formularios. Título de la pregunta:   ¿Cree que la plataforma aportaría mayor organización y control frente al manejo manual de la asistencia?   . Número de respuestas: 12 respuestas.">
            <a:extLst>
              <a:ext uri="{FF2B5EF4-FFF2-40B4-BE49-F238E27FC236}">
                <a16:creationId xmlns:a16="http://schemas.microsoft.com/office/drawing/2014/main" id="{08B6AFB0-3AEF-4772-B63F-7E7D9C3783E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73040" y="2107720"/>
            <a:ext cx="5922960" cy="2686370"/>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número de diapositiva 6">
            <a:extLst>
              <a:ext uri="{FF2B5EF4-FFF2-40B4-BE49-F238E27FC236}">
                <a16:creationId xmlns:a16="http://schemas.microsoft.com/office/drawing/2014/main" id="{6915800A-C3F9-6228-7E9A-CCAE3235C21D}"/>
              </a:ext>
            </a:extLst>
          </p:cNvPr>
          <p:cNvSpPr>
            <a:spLocks noGrp="1"/>
          </p:cNvSpPr>
          <p:nvPr>
            <p:ph type="sldNum" sz="quarter" idx="12"/>
          </p:nvPr>
        </p:nvSpPr>
        <p:spPr/>
        <p:txBody>
          <a:bodyPr/>
          <a:lstStyle/>
          <a:p>
            <a:fld id="{563AC2A5-5C3E-4220-BB99-01E3C4CB1A8D}" type="slidenum">
              <a:rPr lang="es-CO" sz="2800" smtClean="0">
                <a:solidFill>
                  <a:schemeClr val="bg1"/>
                </a:solidFill>
                <a:latin typeface="Algerian" panose="04020705040A02060702" pitchFamily="82" charset="0"/>
              </a:rPr>
              <a:t>24</a:t>
            </a:fld>
            <a:endParaRPr lang="es-CO" dirty="0">
              <a:solidFill>
                <a:schemeClr val="bg1"/>
              </a:solidFill>
              <a:latin typeface="Algerian" panose="04020705040A02060702" pitchFamily="82" charset="0"/>
            </a:endParaRPr>
          </a:p>
        </p:txBody>
      </p:sp>
      <p:pic>
        <p:nvPicPr>
          <p:cNvPr id="3" name="Picture 2" descr="Gráfico de respuestas de formularios. Título de la pregunta:   ¿Cree que la plataforma aportaría mayor organización y control frente al manejo manual de la asistencia?   . Número de respuestas: 9 respuestas.">
            <a:extLst>
              <a:ext uri="{FF2B5EF4-FFF2-40B4-BE49-F238E27FC236}">
                <a16:creationId xmlns:a16="http://schemas.microsoft.com/office/drawing/2014/main" id="{909E922E-5CFD-AAD2-B5F9-0A9623450E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2107720"/>
            <a:ext cx="6096000" cy="268637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de flecha 4">
            <a:extLst>
              <a:ext uri="{FF2B5EF4-FFF2-40B4-BE49-F238E27FC236}">
                <a16:creationId xmlns:a16="http://schemas.microsoft.com/office/drawing/2014/main" id="{2D008909-443F-400F-77AF-02EB1008031B}"/>
              </a:ext>
            </a:extLst>
          </p:cNvPr>
          <p:cNvCxnSpPr>
            <a:stCxn id="9218" idx="2"/>
          </p:cNvCxnSpPr>
          <p:nvPr/>
        </p:nvCxnSpPr>
        <p:spPr>
          <a:xfrm flipH="1">
            <a:off x="3131389" y="4794090"/>
            <a:ext cx="3131" cy="4335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Conector recto de flecha 5">
            <a:extLst>
              <a:ext uri="{FF2B5EF4-FFF2-40B4-BE49-F238E27FC236}">
                <a16:creationId xmlns:a16="http://schemas.microsoft.com/office/drawing/2014/main" id="{66803617-E6FE-A30C-B583-1358C707172B}"/>
              </a:ext>
            </a:extLst>
          </p:cNvPr>
          <p:cNvCxnSpPr/>
          <p:nvPr/>
        </p:nvCxnSpPr>
        <p:spPr>
          <a:xfrm flipH="1">
            <a:off x="9142434" y="4780051"/>
            <a:ext cx="3131" cy="4335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ángulo 7">
            <a:extLst>
              <a:ext uri="{FF2B5EF4-FFF2-40B4-BE49-F238E27FC236}">
                <a16:creationId xmlns:a16="http://schemas.microsoft.com/office/drawing/2014/main" id="{94456176-295D-55F2-79E9-2C9B719B4C87}"/>
              </a:ext>
            </a:extLst>
          </p:cNvPr>
          <p:cNvSpPr/>
          <p:nvPr/>
        </p:nvSpPr>
        <p:spPr>
          <a:xfrm>
            <a:off x="2440685" y="5227608"/>
            <a:ext cx="1481202" cy="6469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Docente</a:t>
            </a:r>
            <a:endParaRPr lang="es-419" dirty="0"/>
          </a:p>
        </p:txBody>
      </p:sp>
      <p:sp>
        <p:nvSpPr>
          <p:cNvPr id="9" name="Rectángulo 8">
            <a:extLst>
              <a:ext uri="{FF2B5EF4-FFF2-40B4-BE49-F238E27FC236}">
                <a16:creationId xmlns:a16="http://schemas.microsoft.com/office/drawing/2014/main" id="{6108E5D0-21CB-9573-5B7C-A4EB5EF1DF80}"/>
              </a:ext>
            </a:extLst>
          </p:cNvPr>
          <p:cNvSpPr/>
          <p:nvPr/>
        </p:nvSpPr>
        <p:spPr>
          <a:xfrm>
            <a:off x="8401833" y="5213569"/>
            <a:ext cx="1481201" cy="6469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Padres o acudiente</a:t>
            </a:r>
            <a:endParaRPr lang="es-419" dirty="0"/>
          </a:p>
        </p:txBody>
      </p:sp>
    </p:spTree>
    <p:extLst>
      <p:ext uri="{BB962C8B-B14F-4D97-AF65-F5344CB8AC3E}">
        <p14:creationId xmlns:p14="http://schemas.microsoft.com/office/powerpoint/2010/main" val="3359483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E007B8-AFA9-665B-50BF-564576838F01}"/>
              </a:ext>
            </a:extLst>
          </p:cNvPr>
          <p:cNvSpPr>
            <a:spLocks noGrp="1"/>
          </p:cNvSpPr>
          <p:nvPr>
            <p:ph type="title"/>
          </p:nvPr>
        </p:nvSpPr>
        <p:spPr/>
        <p:txBody>
          <a:bodyPr>
            <a:normAutofit fontScale="90000"/>
          </a:bodyPr>
          <a:lstStyle/>
          <a:p>
            <a:r>
              <a:rPr lang="es-MX" dirty="0"/>
              <a:t>¿Le gustaría que el sistema envíe notificaciones masivas de manera automática en caso de necesidad?  </a:t>
            </a:r>
            <a:endParaRPr lang="es-419" dirty="0"/>
          </a:p>
        </p:txBody>
      </p:sp>
      <p:pic>
        <p:nvPicPr>
          <p:cNvPr id="10242" name="Picture 2" descr="Gráfico de respuestas de formularios. Título de la pregunta:   ¿Le gustaría que el sistema envíe notificaciones masivas de manera automática en caso de necesidad?  . Número de respuestas: 12 respuestas.">
            <a:extLst>
              <a:ext uri="{FF2B5EF4-FFF2-40B4-BE49-F238E27FC236}">
                <a16:creationId xmlns:a16="http://schemas.microsoft.com/office/drawing/2014/main" id="{C244050C-6C63-24D7-1961-68B334FB86C4}"/>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0293" y="2357887"/>
            <a:ext cx="6322650" cy="2867650"/>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número de diapositiva 6">
            <a:extLst>
              <a:ext uri="{FF2B5EF4-FFF2-40B4-BE49-F238E27FC236}">
                <a16:creationId xmlns:a16="http://schemas.microsoft.com/office/drawing/2014/main" id="{FF4C1FD4-8302-9F53-6641-9E75C7B6E5E7}"/>
              </a:ext>
            </a:extLst>
          </p:cNvPr>
          <p:cNvSpPr>
            <a:spLocks noGrp="1"/>
          </p:cNvSpPr>
          <p:nvPr>
            <p:ph type="sldNum" sz="quarter" idx="12"/>
          </p:nvPr>
        </p:nvSpPr>
        <p:spPr/>
        <p:txBody>
          <a:bodyPr/>
          <a:lstStyle/>
          <a:p>
            <a:fld id="{563AC2A5-5C3E-4220-BB99-01E3C4CB1A8D}" type="slidenum">
              <a:rPr lang="es-CO" sz="2800" smtClean="0">
                <a:solidFill>
                  <a:schemeClr val="bg1"/>
                </a:solidFill>
                <a:latin typeface="Algerian" panose="04020705040A02060702" pitchFamily="82" charset="0"/>
              </a:rPr>
              <a:t>25</a:t>
            </a:fld>
            <a:endParaRPr lang="es-CO" sz="2800" dirty="0">
              <a:solidFill>
                <a:schemeClr val="bg1"/>
              </a:solidFill>
              <a:latin typeface="Algerian" panose="04020705040A02060702" pitchFamily="82" charset="0"/>
            </a:endParaRPr>
          </a:p>
        </p:txBody>
      </p:sp>
      <p:pic>
        <p:nvPicPr>
          <p:cNvPr id="4" name="Picture 2" descr="Gráfico de respuestas de formularios. Título de la pregunta:   ¿Le gustaría que el sistema envíe notificaciones masivas de manera automática en caso de necesidad?  . Número de respuestas: 9 respuestas.">
            <a:extLst>
              <a:ext uri="{FF2B5EF4-FFF2-40B4-BE49-F238E27FC236}">
                <a16:creationId xmlns:a16="http://schemas.microsoft.com/office/drawing/2014/main" id="{6A092C38-271D-99EC-4A52-76EC8C5588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12943" y="2432649"/>
            <a:ext cx="5721756" cy="279288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ector recto de flecha 5">
            <a:extLst>
              <a:ext uri="{FF2B5EF4-FFF2-40B4-BE49-F238E27FC236}">
                <a16:creationId xmlns:a16="http://schemas.microsoft.com/office/drawing/2014/main" id="{C71B3D7A-0766-D031-DC80-88E9F5CE2461}"/>
              </a:ext>
            </a:extLst>
          </p:cNvPr>
          <p:cNvCxnSpPr/>
          <p:nvPr/>
        </p:nvCxnSpPr>
        <p:spPr>
          <a:xfrm>
            <a:off x="9635706" y="5225536"/>
            <a:ext cx="0" cy="3385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ángulo 7">
            <a:extLst>
              <a:ext uri="{FF2B5EF4-FFF2-40B4-BE49-F238E27FC236}">
                <a16:creationId xmlns:a16="http://schemas.microsoft.com/office/drawing/2014/main" id="{3F367ADF-5E04-724C-2E11-3F009C6A25FB}"/>
              </a:ext>
            </a:extLst>
          </p:cNvPr>
          <p:cNvSpPr/>
          <p:nvPr/>
        </p:nvSpPr>
        <p:spPr>
          <a:xfrm>
            <a:off x="8941281" y="5564038"/>
            <a:ext cx="1526872" cy="5607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PADRES</a:t>
            </a:r>
            <a:r>
              <a:rPr lang="en-US" dirty="0"/>
              <a:t> </a:t>
            </a:r>
            <a:r>
              <a:rPr lang="en-US" dirty="0">
                <a:solidFill>
                  <a:schemeClr val="tx1"/>
                </a:solidFill>
              </a:rPr>
              <a:t>O ACUDIENTE</a:t>
            </a:r>
            <a:endParaRPr lang="es-419" dirty="0">
              <a:solidFill>
                <a:schemeClr val="tx1"/>
              </a:solidFill>
            </a:endParaRPr>
          </a:p>
        </p:txBody>
      </p:sp>
      <p:cxnSp>
        <p:nvCxnSpPr>
          <p:cNvPr id="9" name="Conector recto de flecha 8">
            <a:extLst>
              <a:ext uri="{FF2B5EF4-FFF2-40B4-BE49-F238E27FC236}">
                <a16:creationId xmlns:a16="http://schemas.microsoft.com/office/drawing/2014/main" id="{FEC5E0C2-1947-0829-932A-C61672CF72B2}"/>
              </a:ext>
            </a:extLst>
          </p:cNvPr>
          <p:cNvCxnSpPr/>
          <p:nvPr/>
        </p:nvCxnSpPr>
        <p:spPr>
          <a:xfrm>
            <a:off x="2688567" y="5225536"/>
            <a:ext cx="0" cy="3385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ángulo 9">
            <a:extLst>
              <a:ext uri="{FF2B5EF4-FFF2-40B4-BE49-F238E27FC236}">
                <a16:creationId xmlns:a16="http://schemas.microsoft.com/office/drawing/2014/main" id="{6C0D5F99-9668-9A9E-A1C0-8C94A083CB21}"/>
              </a:ext>
            </a:extLst>
          </p:cNvPr>
          <p:cNvSpPr/>
          <p:nvPr/>
        </p:nvSpPr>
        <p:spPr>
          <a:xfrm>
            <a:off x="1925130" y="5564038"/>
            <a:ext cx="1526874" cy="72461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Docente</a:t>
            </a:r>
            <a:endParaRPr lang="es-419" dirty="0">
              <a:solidFill>
                <a:schemeClr val="tx1"/>
              </a:solidFill>
            </a:endParaRPr>
          </a:p>
        </p:txBody>
      </p:sp>
    </p:spTree>
    <p:extLst>
      <p:ext uri="{BB962C8B-B14F-4D97-AF65-F5344CB8AC3E}">
        <p14:creationId xmlns:p14="http://schemas.microsoft.com/office/powerpoint/2010/main" val="2673852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3252F-846C-17B1-96D5-A73FC181D9CD}"/>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63C32D2D-C469-DDE2-651A-56F9A59A20C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1F5EAA20-89B0-F9B3-978E-6FD30797D532}"/>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19169E42-0B3C-3315-BF53-56542A08E11C}"/>
                </a:ext>
              </a:extLst>
            </p:cNvPr>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F6823362-E934-AC43-843C-B7406DEFE8A4}"/>
                </a:ext>
              </a:extLst>
            </p:cNvPr>
            <p:cNvPicPr>
              <a:picLocks noChangeAspect="1"/>
            </p:cNvPicPr>
            <p:nvPr/>
          </p:nvPicPr>
          <p:blipFill>
            <a:blip r:embed="rId3"/>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31D67588-0EFA-6DFB-5DFC-417E555700F0}"/>
              </a:ext>
            </a:extLst>
          </p:cNvPr>
          <p:cNvSpPr/>
          <p:nvPr/>
        </p:nvSpPr>
        <p:spPr>
          <a:xfrm>
            <a:off x="1820763" y="1361539"/>
            <a:ext cx="8925886" cy="1938992"/>
          </a:xfrm>
          <a:prstGeom prst="rect">
            <a:avLst/>
          </a:prstGeom>
        </p:spPr>
        <p:txBody>
          <a:bodyPr wrap="square">
            <a:spAutoFit/>
          </a:bodyPr>
          <a:lstStyle/>
          <a:p>
            <a:r>
              <a:rPr lang="es-MX" sz="6000" dirty="0"/>
              <a:t>Requerimiento funcionales</a:t>
            </a:r>
            <a:endParaRPr lang="es-CO" sz="6000" dirty="0"/>
          </a:p>
        </p:txBody>
      </p:sp>
      <p:cxnSp>
        <p:nvCxnSpPr>
          <p:cNvPr id="17" name="Conector recto 16">
            <a:extLst>
              <a:ext uri="{FF2B5EF4-FFF2-40B4-BE49-F238E27FC236}">
                <a16:creationId xmlns:a16="http://schemas.microsoft.com/office/drawing/2014/main" id="{C42EFCD8-2F1B-6F26-F49C-423558C1512D}"/>
              </a:ext>
            </a:extLst>
          </p:cNvPr>
          <p:cNvCxnSpPr/>
          <p:nvPr/>
        </p:nvCxnSpPr>
        <p:spPr>
          <a:xfrm>
            <a:off x="307975" y="1047979"/>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Marcador de número de diapositiva 2">
            <a:extLst>
              <a:ext uri="{FF2B5EF4-FFF2-40B4-BE49-F238E27FC236}">
                <a16:creationId xmlns:a16="http://schemas.microsoft.com/office/drawing/2014/main" id="{BB718976-57C7-ECCF-E2B1-62B95CCCFA3E}"/>
              </a:ext>
            </a:extLst>
          </p:cNvPr>
          <p:cNvSpPr>
            <a:spLocks noGrp="1"/>
          </p:cNvSpPr>
          <p:nvPr>
            <p:ph type="sldNum" sz="quarter" idx="12"/>
          </p:nvPr>
        </p:nvSpPr>
        <p:spPr/>
        <p:txBody>
          <a:bodyPr/>
          <a:lstStyle/>
          <a:p>
            <a:fld id="{563AC2A5-5C3E-4220-BB99-01E3C4CB1A8D}" type="slidenum">
              <a:rPr lang="es-CO" smtClean="0"/>
              <a:t>26</a:t>
            </a:fld>
            <a:endParaRPr lang="es-CO" dirty="0"/>
          </a:p>
        </p:txBody>
      </p:sp>
      <p:graphicFrame>
        <p:nvGraphicFramePr>
          <p:cNvPr id="2" name="Objeto 1">
            <a:extLst>
              <a:ext uri="{FF2B5EF4-FFF2-40B4-BE49-F238E27FC236}">
                <a16:creationId xmlns:a16="http://schemas.microsoft.com/office/drawing/2014/main" id="{0204EE76-C824-D50A-DBA9-41C1E9C5F01C}"/>
              </a:ext>
            </a:extLst>
          </p:cNvPr>
          <p:cNvGraphicFramePr>
            <a:graphicFrameLocks noChangeAspect="1"/>
          </p:cNvGraphicFramePr>
          <p:nvPr>
            <p:extLst>
              <p:ext uri="{D42A27DB-BD31-4B8C-83A1-F6EECF244321}">
                <p14:modId xmlns:p14="http://schemas.microsoft.com/office/powerpoint/2010/main" val="2469117223"/>
              </p:ext>
            </p:extLst>
          </p:nvPr>
        </p:nvGraphicFramePr>
        <p:xfrm>
          <a:off x="4778780" y="4142481"/>
          <a:ext cx="2634439" cy="2222808"/>
        </p:xfrm>
        <a:graphic>
          <a:graphicData uri="http://schemas.openxmlformats.org/presentationml/2006/ole">
            <mc:AlternateContent xmlns:mc="http://schemas.openxmlformats.org/markup-compatibility/2006">
              <mc:Choice xmlns:v="urn:schemas-microsoft-com:vml" Requires="v">
                <p:oleObj spid="_x0000_s2054" name="Acrobat Document" showAsIcon="1" r:id="rId4" imgW="914400" imgH="771698" progId="Acrobat.Document.DC">
                  <p:embed/>
                </p:oleObj>
              </mc:Choice>
              <mc:Fallback>
                <p:oleObj name="Acrobat Document" showAsIcon="1" r:id="rId4" imgW="914400" imgH="771698" progId="Acrobat.Document.DC">
                  <p:embed/>
                  <p:pic>
                    <p:nvPicPr>
                      <p:cNvPr id="0" name=""/>
                      <p:cNvPicPr/>
                      <p:nvPr/>
                    </p:nvPicPr>
                    <p:blipFill>
                      <a:blip r:embed="rId5"/>
                      <a:stretch>
                        <a:fillRect/>
                      </a:stretch>
                    </p:blipFill>
                    <p:spPr>
                      <a:xfrm>
                        <a:off x="4778780" y="4142481"/>
                        <a:ext cx="2634439" cy="2222808"/>
                      </a:xfrm>
                      <a:prstGeom prst="rect">
                        <a:avLst/>
                      </a:prstGeom>
                    </p:spPr>
                  </p:pic>
                </p:oleObj>
              </mc:Fallback>
            </mc:AlternateContent>
          </a:graphicData>
        </a:graphic>
      </p:graphicFrame>
    </p:spTree>
    <p:extLst>
      <p:ext uri="{BB962C8B-B14F-4D97-AF65-F5344CB8AC3E}">
        <p14:creationId xmlns:p14="http://schemas.microsoft.com/office/powerpoint/2010/main" val="2340195307"/>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813</TotalTime>
  <Words>902</Words>
  <Application>Microsoft Office PowerPoint</Application>
  <PresentationFormat>Panorámica</PresentationFormat>
  <Paragraphs>71</Paragraphs>
  <Slides>26</Slides>
  <Notes>0</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2</vt:i4>
      </vt:variant>
      <vt:variant>
        <vt:lpstr>Títulos de diapositiva</vt:lpstr>
      </vt:variant>
      <vt:variant>
        <vt:i4>26</vt:i4>
      </vt:variant>
    </vt:vector>
  </HeadingPairs>
  <TitlesOfParts>
    <vt:vector size="34" baseType="lpstr">
      <vt:lpstr>Algerian</vt:lpstr>
      <vt:lpstr>Arial</vt:lpstr>
      <vt:lpstr>Calibri</vt:lpstr>
      <vt:lpstr>Century Gothic</vt:lpstr>
      <vt:lpstr>Wingdings 3</vt:lpstr>
      <vt:lpstr>Espiral</vt:lpstr>
      <vt:lpstr>Objeto empaquetador del shell</vt:lpstr>
      <vt:lpstr>Acrobat Document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¿Que tipo de usuario eres?</vt:lpstr>
      <vt:lpstr>   ¿Le gustaría tener una plataforma para registrar asistencia de manera digital?   </vt:lpstr>
      <vt:lpstr>¿Cree que sería más fácil registrar retardos e inasistencias en una aplicación que en papel?  </vt:lpstr>
      <vt:lpstr> ¿Le facilitaría contar con un sistema que genere reportes automáticos de asistencia cada mes?  </vt:lpstr>
      <vt:lpstr>¿Le gustaría recibir una notificación inmediata al correo si su hijo falta a clase o llega tarde?</vt:lpstr>
      <vt:lpstr>  ¿Cree que sería útil tener acceso a un reporte mensual de asistencia de su hijo(a)?  </vt:lpstr>
      <vt:lpstr>  ¿Le facilitaría poder consultar la asistencia de su hijo(a) desde cualquier dispositivo con internet?   </vt:lpstr>
      <vt:lpstr>¿Le facilitaría que la interfaz sea sencilla e intuitiva, sin necesidad de capacitación avanzada?  </vt:lpstr>
      <vt:lpstr>  ¿Cree que la plataforma aportaría mayor organización y control frente al manejo manual de la asistencia?   </vt:lpstr>
      <vt:lpstr>¿Le gustaría que el sistema envíe notificaciones masivas de manera automática en caso de necesidad?  </vt:lpstr>
      <vt:lpstr>Presentación de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Julian Andres</dc:creator>
  <cp:lastModifiedBy>APRENDIZ</cp:lastModifiedBy>
  <cp:revision>32</cp:revision>
  <dcterms:created xsi:type="dcterms:W3CDTF">2025-08-01T18:17:32Z</dcterms:created>
  <dcterms:modified xsi:type="dcterms:W3CDTF">2025-10-16T22:29:17Z</dcterms:modified>
</cp:coreProperties>
</file>